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9" r:id="rId4"/>
    <p:sldId id="260" r:id="rId5"/>
    <p:sldId id="275" r:id="rId6"/>
    <p:sldId id="261" r:id="rId7"/>
    <p:sldId id="262" r:id="rId8"/>
    <p:sldId id="263" r:id="rId9"/>
    <p:sldId id="264" r:id="rId10"/>
    <p:sldId id="265" r:id="rId11"/>
    <p:sldId id="266" r:id="rId12"/>
    <p:sldId id="267" r:id="rId13"/>
    <p:sldId id="268" r:id="rId14"/>
    <p:sldId id="269" r:id="rId15"/>
    <p:sldId id="270" r:id="rId16"/>
    <p:sldId id="271" r:id="rId17"/>
    <p:sldId id="276"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xlsx"/></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G:\Data%20Scientist%202026%20I%20will%20be\SQL\META_PROJECT\Enhancing-Instagram-Engagement-main\Enhancing-Instagram-Engagement-main\Objective%20questions%20visuals\11th.xlsx" TargetMode="External"/><Relationship Id="rId4"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Engagement</a:t>
            </a:r>
            <a:r>
              <a:rPr lang="en-US" baseline="0"/>
              <a:t> based on posting hours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'4th'!$A$1</c:f>
              <c:strCache>
                <c:ptCount val="1"/>
                <c:pt idx="0">
                  <c:v>post_hour</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'4th'!$A$2:$A$24</c:f>
              <c:numCache>
                <c:formatCode>General</c:formatCode>
                <c:ptCount val="23"/>
                <c:pt idx="0">
                  <c:v>0</c:v>
                </c:pt>
                <c:pt idx="1">
                  <c:v>1</c:v>
                </c:pt>
                <c:pt idx="2">
                  <c:v>2</c:v>
                </c:pt>
                <c:pt idx="3">
                  <c:v>3</c:v>
                </c:pt>
                <c:pt idx="4">
                  <c:v>4</c:v>
                </c:pt>
                <c:pt idx="5">
                  <c:v>5</c:v>
                </c:pt>
                <c:pt idx="6">
                  <c:v>6</c:v>
                </c:pt>
                <c:pt idx="7">
                  <c:v>7</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numCache>
            </c:numRef>
          </c:val>
          <c:extLst>
            <c:ext xmlns:c16="http://schemas.microsoft.com/office/drawing/2014/chart" uri="{C3380CC4-5D6E-409C-BE32-E72D297353CC}">
              <c16:uniqueId val="{00000000-2855-42A3-A277-2AB22C9F8D4A}"/>
            </c:ext>
          </c:extLst>
        </c:ser>
        <c:ser>
          <c:idx val="1"/>
          <c:order val="1"/>
          <c:tx>
            <c:strRef>
              <c:f>'4th'!$B$1</c:f>
              <c:strCache>
                <c:ptCount val="1"/>
                <c:pt idx="0">
                  <c:v>likes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'4th'!$B$2:$B$24</c:f>
              <c:numCache>
                <c:formatCode>General</c:formatCode>
                <c:ptCount val="23"/>
                <c:pt idx="0">
                  <c:v>3</c:v>
                </c:pt>
                <c:pt idx="1">
                  <c:v>5</c:v>
                </c:pt>
                <c:pt idx="2">
                  <c:v>5</c:v>
                </c:pt>
                <c:pt idx="3">
                  <c:v>4</c:v>
                </c:pt>
                <c:pt idx="4">
                  <c:v>1</c:v>
                </c:pt>
                <c:pt idx="5">
                  <c:v>2</c:v>
                </c:pt>
                <c:pt idx="6">
                  <c:v>2</c:v>
                </c:pt>
                <c:pt idx="7">
                  <c:v>6</c:v>
                </c:pt>
                <c:pt idx="8">
                  <c:v>4</c:v>
                </c:pt>
                <c:pt idx="9">
                  <c:v>1</c:v>
                </c:pt>
                <c:pt idx="10">
                  <c:v>6</c:v>
                </c:pt>
                <c:pt idx="11">
                  <c:v>6</c:v>
                </c:pt>
                <c:pt idx="12">
                  <c:v>3</c:v>
                </c:pt>
                <c:pt idx="13">
                  <c:v>4</c:v>
                </c:pt>
                <c:pt idx="14">
                  <c:v>3</c:v>
                </c:pt>
                <c:pt idx="15">
                  <c:v>3</c:v>
                </c:pt>
                <c:pt idx="16">
                  <c:v>9</c:v>
                </c:pt>
                <c:pt idx="17">
                  <c:v>7</c:v>
                </c:pt>
                <c:pt idx="18">
                  <c:v>4</c:v>
                </c:pt>
                <c:pt idx="19">
                  <c:v>2</c:v>
                </c:pt>
                <c:pt idx="20">
                  <c:v>7</c:v>
                </c:pt>
                <c:pt idx="21">
                  <c:v>4</c:v>
                </c:pt>
                <c:pt idx="22">
                  <c:v>9</c:v>
                </c:pt>
              </c:numCache>
            </c:numRef>
          </c:val>
          <c:extLst>
            <c:ext xmlns:c16="http://schemas.microsoft.com/office/drawing/2014/chart" uri="{C3380CC4-5D6E-409C-BE32-E72D297353CC}">
              <c16:uniqueId val="{00000001-2855-42A3-A277-2AB22C9F8D4A}"/>
            </c:ext>
          </c:extLst>
        </c:ser>
        <c:ser>
          <c:idx val="2"/>
          <c:order val="2"/>
          <c:tx>
            <c:strRef>
              <c:f>'4th'!$C$1</c:f>
              <c:strCache>
                <c:ptCount val="1"/>
                <c:pt idx="0">
                  <c:v>comments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'4th'!$C$2:$C$24</c:f>
              <c:numCache>
                <c:formatCode>General</c:formatCode>
                <c:ptCount val="23"/>
                <c:pt idx="0">
                  <c:v>80</c:v>
                </c:pt>
                <c:pt idx="1">
                  <c:v>142</c:v>
                </c:pt>
                <c:pt idx="2">
                  <c:v>148</c:v>
                </c:pt>
                <c:pt idx="3">
                  <c:v>112</c:v>
                </c:pt>
                <c:pt idx="4">
                  <c:v>32</c:v>
                </c:pt>
                <c:pt idx="5">
                  <c:v>61</c:v>
                </c:pt>
                <c:pt idx="6">
                  <c:v>58</c:v>
                </c:pt>
                <c:pt idx="7">
                  <c:v>181</c:v>
                </c:pt>
                <c:pt idx="8">
                  <c:v>119</c:v>
                </c:pt>
                <c:pt idx="9">
                  <c:v>28</c:v>
                </c:pt>
                <c:pt idx="10">
                  <c:v>171</c:v>
                </c:pt>
                <c:pt idx="11">
                  <c:v>183</c:v>
                </c:pt>
                <c:pt idx="12">
                  <c:v>84</c:v>
                </c:pt>
                <c:pt idx="13">
                  <c:v>115</c:v>
                </c:pt>
                <c:pt idx="14">
                  <c:v>86</c:v>
                </c:pt>
                <c:pt idx="15">
                  <c:v>76</c:v>
                </c:pt>
                <c:pt idx="16">
                  <c:v>276</c:v>
                </c:pt>
                <c:pt idx="17">
                  <c:v>210</c:v>
                </c:pt>
                <c:pt idx="18">
                  <c:v>109</c:v>
                </c:pt>
                <c:pt idx="19">
                  <c:v>64</c:v>
                </c:pt>
                <c:pt idx="20">
                  <c:v>196</c:v>
                </c:pt>
                <c:pt idx="21">
                  <c:v>109</c:v>
                </c:pt>
                <c:pt idx="22">
                  <c:v>247</c:v>
                </c:pt>
              </c:numCache>
            </c:numRef>
          </c:val>
          <c:extLst>
            <c:ext xmlns:c16="http://schemas.microsoft.com/office/drawing/2014/chart" uri="{C3380CC4-5D6E-409C-BE32-E72D297353CC}">
              <c16:uniqueId val="{00000002-2855-42A3-A277-2AB22C9F8D4A}"/>
            </c:ext>
          </c:extLst>
        </c:ser>
        <c:dLbls>
          <c:dLblPos val="outEnd"/>
          <c:showLegendKey val="0"/>
          <c:showVal val="1"/>
          <c:showCatName val="0"/>
          <c:showSerName val="0"/>
          <c:showPercent val="0"/>
          <c:showBubbleSize val="0"/>
        </c:dLbls>
        <c:gapWidth val="219"/>
        <c:overlap val="-27"/>
        <c:axId val="1603709983"/>
        <c:axId val="1603710463"/>
      </c:barChart>
      <c:catAx>
        <c:axId val="160370998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Post</a:t>
                </a:r>
                <a:r>
                  <a:rPr lang="en-US" baseline="0"/>
                  <a:t> Hour</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03710463"/>
        <c:crosses val="autoZero"/>
        <c:auto val="1"/>
        <c:lblAlgn val="ctr"/>
        <c:lblOffset val="100"/>
        <c:noMultiLvlLbl val="0"/>
      </c:catAx>
      <c:valAx>
        <c:axId val="16037104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a:t>
                </a:r>
                <a:r>
                  <a:rPr lang="en-US" baseline="0"/>
                  <a:t> of reactions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037099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a:t>Segmenation</a:t>
            </a:r>
            <a:r>
              <a:rPr lang="en-US" baseline="0"/>
              <a:t> based on engagement levels</a:t>
            </a:r>
            <a:endParaRPr lang="en-US"/>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pieChart>
        <c:varyColors val="1"/>
        <c:ser>
          <c:idx val="0"/>
          <c:order val="0"/>
          <c:tx>
            <c:strRef>
              <c:f>'6th'!$B$1</c:f>
              <c:strCache>
                <c:ptCount val="1"/>
                <c:pt idx="0">
                  <c:v>total_users</c:v>
                </c:pt>
              </c:strCache>
            </c:strRef>
          </c:tx>
          <c:dPt>
            <c:idx val="0"/>
            <c:bubble3D val="0"/>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extLst>
              <c:ext xmlns:c16="http://schemas.microsoft.com/office/drawing/2014/chart" uri="{C3380CC4-5D6E-409C-BE32-E72D297353CC}">
                <c16:uniqueId val="{00000001-DE33-49D8-9F38-5A4B23A2F7C3}"/>
              </c:ext>
            </c:extLst>
          </c:dPt>
          <c:dPt>
            <c:idx val="1"/>
            <c:bubble3D val="0"/>
            <c:spPr>
              <a:pattFill prst="ltUpDiag">
                <a:fgClr>
                  <a:schemeClr val="accent2"/>
                </a:fgClr>
                <a:bgClr>
                  <a:schemeClr val="accent2">
                    <a:lumMod val="20000"/>
                    <a:lumOff val="80000"/>
                  </a:schemeClr>
                </a:bgClr>
              </a:pattFill>
              <a:ln w="19050">
                <a:solidFill>
                  <a:schemeClr val="lt1"/>
                </a:solidFill>
              </a:ln>
              <a:effectLst>
                <a:innerShdw blurRad="114300">
                  <a:schemeClr val="accent2"/>
                </a:innerShdw>
              </a:effectLst>
            </c:spPr>
            <c:extLst>
              <c:ext xmlns:c16="http://schemas.microsoft.com/office/drawing/2014/chart" uri="{C3380CC4-5D6E-409C-BE32-E72D297353CC}">
                <c16:uniqueId val="{00000003-DE33-49D8-9F38-5A4B23A2F7C3}"/>
              </c:ext>
            </c:extLst>
          </c:dPt>
          <c:dPt>
            <c:idx val="2"/>
            <c:bubble3D val="0"/>
            <c:spPr>
              <a:pattFill prst="ltUpDiag">
                <a:fgClr>
                  <a:schemeClr val="accent3"/>
                </a:fgClr>
                <a:bgClr>
                  <a:schemeClr val="accent3">
                    <a:lumMod val="20000"/>
                    <a:lumOff val="80000"/>
                  </a:schemeClr>
                </a:bgClr>
              </a:pattFill>
              <a:ln w="19050">
                <a:solidFill>
                  <a:schemeClr val="lt1"/>
                </a:solidFill>
              </a:ln>
              <a:effectLst>
                <a:innerShdw blurRad="114300">
                  <a:schemeClr val="accent3"/>
                </a:innerShdw>
              </a:effectLst>
            </c:spPr>
            <c:extLst>
              <c:ext xmlns:c16="http://schemas.microsoft.com/office/drawing/2014/chart" uri="{C3380CC4-5D6E-409C-BE32-E72D297353CC}">
                <c16:uniqueId val="{00000005-DE33-49D8-9F38-5A4B23A2F7C3}"/>
              </c:ext>
            </c:extLst>
          </c:dPt>
          <c:dPt>
            <c:idx val="3"/>
            <c:bubble3D val="0"/>
            <c:spPr>
              <a:pattFill prst="ltUpDiag">
                <a:fgClr>
                  <a:schemeClr val="accent4"/>
                </a:fgClr>
                <a:bgClr>
                  <a:schemeClr val="accent4">
                    <a:lumMod val="20000"/>
                    <a:lumOff val="80000"/>
                  </a:schemeClr>
                </a:bgClr>
              </a:pattFill>
              <a:ln w="19050">
                <a:solidFill>
                  <a:schemeClr val="lt1"/>
                </a:solidFill>
              </a:ln>
              <a:effectLst>
                <a:innerShdw blurRad="114300">
                  <a:schemeClr val="accent4"/>
                </a:innerShdw>
              </a:effectLst>
            </c:spPr>
            <c:extLst>
              <c:ext xmlns:c16="http://schemas.microsoft.com/office/drawing/2014/chart" uri="{C3380CC4-5D6E-409C-BE32-E72D297353CC}">
                <c16:uniqueId val="{00000007-DE33-49D8-9F38-5A4B23A2F7C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'6th'!$A$2:$A$5</c:f>
              <c:strCache>
                <c:ptCount val="4"/>
                <c:pt idx="0">
                  <c:v>Commenters</c:v>
                </c:pt>
                <c:pt idx="1">
                  <c:v>Highly Engaged</c:v>
                </c:pt>
                <c:pt idx="2">
                  <c:v>Inactive Users</c:v>
                </c:pt>
                <c:pt idx="3">
                  <c:v>Other</c:v>
                </c:pt>
              </c:strCache>
            </c:strRef>
          </c:cat>
          <c:val>
            <c:numRef>
              <c:f>'6th'!$B$2:$B$5</c:f>
              <c:numCache>
                <c:formatCode>General</c:formatCode>
                <c:ptCount val="4"/>
                <c:pt idx="0">
                  <c:v>64</c:v>
                </c:pt>
                <c:pt idx="1">
                  <c:v>3</c:v>
                </c:pt>
                <c:pt idx="2">
                  <c:v>26</c:v>
                </c:pt>
                <c:pt idx="3">
                  <c:v>7</c:v>
                </c:pt>
              </c:numCache>
            </c:numRef>
          </c:val>
          <c:extLst>
            <c:ext xmlns:c16="http://schemas.microsoft.com/office/drawing/2014/chart" uri="{C3380CC4-5D6E-409C-BE32-E72D297353CC}">
              <c16:uniqueId val="{00000008-DE33-49D8-9F38-5A4B23A2F7C3}"/>
            </c:ext>
          </c:extLst>
        </c:ser>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1"/>
                <c:order val="1"/>
                <c:tx>
                  <c:strRef>
                    <c:extLst>
                      <c:ext uri="{02D57815-91ED-43cb-92C2-25804820EDAC}">
                        <c15:formulaRef>
                          <c15:sqref>'6th'!$C$1</c15:sqref>
                        </c15:formulaRef>
                      </c:ext>
                    </c:extLst>
                    <c:strCache>
                      <c:ptCount val="1"/>
                    </c:strCache>
                  </c:strRef>
                </c:tx>
                <c:dPt>
                  <c:idx val="0"/>
                  <c:bubble3D val="0"/>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extLst>
                    <c:ext xmlns:c16="http://schemas.microsoft.com/office/drawing/2014/chart" uri="{C3380CC4-5D6E-409C-BE32-E72D297353CC}">
                      <c16:uniqueId val="{0000000A-DE33-49D8-9F38-5A4B23A2F7C3}"/>
                    </c:ext>
                  </c:extLst>
                </c:dPt>
                <c:dPt>
                  <c:idx val="1"/>
                  <c:bubble3D val="0"/>
                  <c:spPr>
                    <a:pattFill prst="ltUpDiag">
                      <a:fgClr>
                        <a:schemeClr val="accent2"/>
                      </a:fgClr>
                      <a:bgClr>
                        <a:schemeClr val="accent2">
                          <a:lumMod val="20000"/>
                          <a:lumOff val="80000"/>
                        </a:schemeClr>
                      </a:bgClr>
                    </a:pattFill>
                    <a:ln w="19050">
                      <a:solidFill>
                        <a:schemeClr val="lt1"/>
                      </a:solidFill>
                    </a:ln>
                    <a:effectLst>
                      <a:innerShdw blurRad="114300">
                        <a:schemeClr val="accent2"/>
                      </a:innerShdw>
                    </a:effectLst>
                  </c:spPr>
                  <c:extLst>
                    <c:ext xmlns:c16="http://schemas.microsoft.com/office/drawing/2014/chart" uri="{C3380CC4-5D6E-409C-BE32-E72D297353CC}">
                      <c16:uniqueId val="{0000000C-DE33-49D8-9F38-5A4B23A2F7C3}"/>
                    </c:ext>
                  </c:extLst>
                </c:dPt>
                <c:dPt>
                  <c:idx val="2"/>
                  <c:bubble3D val="0"/>
                  <c:spPr>
                    <a:pattFill prst="ltUpDiag">
                      <a:fgClr>
                        <a:schemeClr val="accent3"/>
                      </a:fgClr>
                      <a:bgClr>
                        <a:schemeClr val="accent3">
                          <a:lumMod val="20000"/>
                          <a:lumOff val="80000"/>
                        </a:schemeClr>
                      </a:bgClr>
                    </a:pattFill>
                    <a:ln w="19050">
                      <a:solidFill>
                        <a:schemeClr val="lt1"/>
                      </a:solidFill>
                    </a:ln>
                    <a:effectLst>
                      <a:innerShdw blurRad="114300">
                        <a:schemeClr val="accent3"/>
                      </a:innerShdw>
                    </a:effectLst>
                  </c:spPr>
                  <c:extLst>
                    <c:ext xmlns:c16="http://schemas.microsoft.com/office/drawing/2014/chart" uri="{C3380CC4-5D6E-409C-BE32-E72D297353CC}">
                      <c16:uniqueId val="{0000000E-DE33-49D8-9F38-5A4B23A2F7C3}"/>
                    </c:ext>
                  </c:extLst>
                </c:dPt>
                <c:dPt>
                  <c:idx val="3"/>
                  <c:bubble3D val="0"/>
                  <c:spPr>
                    <a:pattFill prst="ltUpDiag">
                      <a:fgClr>
                        <a:schemeClr val="accent4"/>
                      </a:fgClr>
                      <a:bgClr>
                        <a:schemeClr val="accent4">
                          <a:lumMod val="20000"/>
                          <a:lumOff val="80000"/>
                        </a:schemeClr>
                      </a:bgClr>
                    </a:pattFill>
                    <a:ln w="19050">
                      <a:solidFill>
                        <a:schemeClr val="lt1"/>
                      </a:solidFill>
                    </a:ln>
                    <a:effectLst>
                      <a:innerShdw blurRad="114300">
                        <a:schemeClr val="accent4"/>
                      </a:innerShdw>
                    </a:effectLst>
                  </c:spPr>
                  <c:extLst>
                    <c:ext xmlns:c16="http://schemas.microsoft.com/office/drawing/2014/chart" uri="{C3380CC4-5D6E-409C-BE32-E72D297353CC}">
                      <c16:uniqueId val="{00000010-DE33-49D8-9F38-5A4B23A2F7C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1">
                            <a:lumMod val="35000"/>
                            <a:lumOff val="65000"/>
                          </a:schemeClr>
                        </a:solidFill>
                      </a:ln>
                      <a:effectLst/>
                    </c:spPr>
                  </c:leaderLines>
                  <c:extLst>
                    <c:ext uri="{CE6537A1-D6FC-4f65-9D91-7224C49458BB}"/>
                  </c:extLst>
                </c:dLbls>
                <c:cat>
                  <c:strRef>
                    <c:extLst>
                      <c:ext uri="{02D57815-91ED-43cb-92C2-25804820EDAC}">
                        <c15:formulaRef>
                          <c15:sqref>'6th'!$A$2:$A$5</c15:sqref>
                        </c15:formulaRef>
                      </c:ext>
                    </c:extLst>
                    <c:strCache>
                      <c:ptCount val="4"/>
                      <c:pt idx="0">
                        <c:v>Commenters</c:v>
                      </c:pt>
                      <c:pt idx="1">
                        <c:v>Highly Engaged</c:v>
                      </c:pt>
                      <c:pt idx="2">
                        <c:v>Inactive Users</c:v>
                      </c:pt>
                      <c:pt idx="3">
                        <c:v>Other</c:v>
                      </c:pt>
                    </c:strCache>
                  </c:strRef>
                </c:cat>
                <c:val>
                  <c:numRef>
                    <c:extLst>
                      <c:ext uri="{02D57815-91ED-43cb-92C2-25804820EDAC}">
                        <c15:formulaRef>
                          <c15:sqref>'6th'!$C$2:$C$5</c15:sqref>
                        </c15:formulaRef>
                      </c:ext>
                    </c:extLst>
                    <c:numCache>
                      <c:formatCode>General</c:formatCode>
                      <c:ptCount val="4"/>
                    </c:numCache>
                  </c:numRef>
                </c:val>
                <c:extLst>
                  <c:ext xmlns:c16="http://schemas.microsoft.com/office/drawing/2014/chart" uri="{C3380CC4-5D6E-409C-BE32-E72D297353CC}">
                    <c16:uniqueId val="{00000011-DE33-49D8-9F38-5A4B23A2F7C3}"/>
                  </c:ext>
                </c:extLst>
              </c15:ser>
            </c15:filteredPieSeries>
          </c:ext>
        </c:extLst>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'11th'!$A$2:$A$11</cx:f>
        <cx:lvl ptCount="10">
          <cx:pt idx="0">Eveline95</cx:pt>
          <cx:pt idx="1">Cesar93</cx:pt>
          <cx:pt idx="2">Clint27</cx:pt>
          <cx:pt idx="3">Delfina_VonRueden68</cx:pt>
          <cx:pt idx="4">Aurelie71</cx:pt>
          <cx:pt idx="5">Jaime53</cx:pt>
          <cx:pt idx="6">Donald.Fritsch</cx:pt>
          <cx:pt idx="7">Janet.Armstrong</cx:pt>
          <cx:pt idx="8">Zack_Kemmer93</cx:pt>
          <cx:pt idx="9">Alexandro35</cx:pt>
        </cx:lvl>
      </cx:strDim>
      <cx:numDim type="val">
        <cx:f>'11th'!$B$2:$B$11</cx:f>
        <cx:lvl ptCount="10" formatCode="General">
          <cx:pt idx="0">12</cx:pt>
          <cx:pt idx="1">10</cx:pt>
          <cx:pt idx="2">11</cx:pt>
          <cx:pt idx="3">9</cx:pt>
          <cx:pt idx="4">8</cx:pt>
          <cx:pt idx="5">8</cx:pt>
          <cx:pt idx="6">6</cx:pt>
          <cx:pt idx="7">5</cx:pt>
          <cx:pt idx="8">5</cx:pt>
          <cx:pt idx="9">5</cx:pt>
        </cx:lvl>
      </cx:numDim>
    </cx:data>
    <cx:data id="1">
      <cx:strDim type="cat">
        <cx:f>'11th'!$A$2:$A$11</cx:f>
        <cx:lvl ptCount="10">
          <cx:pt idx="0">Eveline95</cx:pt>
          <cx:pt idx="1">Cesar93</cx:pt>
          <cx:pt idx="2">Clint27</cx:pt>
          <cx:pt idx="3">Delfina_VonRueden68</cx:pt>
          <cx:pt idx="4">Aurelie71</cx:pt>
          <cx:pt idx="5">Jaime53</cx:pt>
          <cx:pt idx="6">Donald.Fritsch</cx:pt>
          <cx:pt idx="7">Janet.Armstrong</cx:pt>
          <cx:pt idx="8">Zack_Kemmer93</cx:pt>
          <cx:pt idx="9">Alexandro35</cx:pt>
        </cx:lvl>
      </cx:strDim>
      <cx:numDim type="val">
        <cx:f>'11th'!$C$2:$C$11</cx:f>
        <cx:lvl ptCount="10" formatCode="General">
          <cx:pt idx="0">329</cx:pt>
          <cx:pt idx="1">308</cx:pt>
          <cx:pt idx="2">299</cx:pt>
          <cx:pt idx="3">273</cx:pt>
          <cx:pt idx="4">242</cx:pt>
          <cx:pt idx="5">229</cx:pt>
          <cx:pt idx="6">174</cx:pt>
          <cx:pt idx="7">154</cx:pt>
          <cx:pt idx="8">151</cx:pt>
          <cx:pt idx="9">148</cx:pt>
        </cx:lvl>
      </cx:numDim>
    </cx:data>
    <cx:data id="2">
      <cx:strDim type="cat">
        <cx:f>'11th'!$A$2:$A$11</cx:f>
        <cx:lvl ptCount="10">
          <cx:pt idx="0">Eveline95</cx:pt>
          <cx:pt idx="1">Cesar93</cx:pt>
          <cx:pt idx="2">Clint27</cx:pt>
          <cx:pt idx="3">Delfina_VonRueden68</cx:pt>
          <cx:pt idx="4">Aurelie71</cx:pt>
          <cx:pt idx="5">Jaime53</cx:pt>
          <cx:pt idx="6">Donald.Fritsch</cx:pt>
          <cx:pt idx="7">Janet.Armstrong</cx:pt>
          <cx:pt idx="8">Zack_Kemmer93</cx:pt>
          <cx:pt idx="9">Alexandro35</cx:pt>
        </cx:lvl>
      </cx:strDim>
      <cx:numDim type="val">
        <cx:f>'11th'!$D$2:$D$11</cx:f>
        <cx:lvl ptCount="10" formatCode="General">
          <cx:pt idx="0">341</cx:pt>
          <cx:pt idx="1">318</cx:pt>
          <cx:pt idx="2">310</cx:pt>
          <cx:pt idx="3">282</cx:pt>
          <cx:pt idx="4">250</cx:pt>
          <cx:pt idx="5">237</cx:pt>
          <cx:pt idx="6">180</cx:pt>
          <cx:pt idx="7">159</cx:pt>
          <cx:pt idx="8">156</cx:pt>
          <cx:pt idx="9">153</cx:pt>
        </cx:lvl>
      </cx:numDim>
    </cx:data>
    <cx:data id="3">
      <cx:strDim type="cat">
        <cx:f>'11th'!$A$2:$A$11</cx:f>
        <cx:lvl ptCount="10">
          <cx:pt idx="0">Eveline95</cx:pt>
          <cx:pt idx="1">Cesar93</cx:pt>
          <cx:pt idx="2">Clint27</cx:pt>
          <cx:pt idx="3">Delfina_VonRueden68</cx:pt>
          <cx:pt idx="4">Aurelie71</cx:pt>
          <cx:pt idx="5">Jaime53</cx:pt>
          <cx:pt idx="6">Donald.Fritsch</cx:pt>
          <cx:pt idx="7">Janet.Armstrong</cx:pt>
          <cx:pt idx="8">Zack_Kemmer93</cx:pt>
          <cx:pt idx="9">Alexandro35</cx:pt>
        </cx:lvl>
      </cx:strDim>
      <cx:numDim type="val">
        <cx:f>'11th'!$E$2:$E$11</cx:f>
        <cx:lvl ptCount="10" formatCode="General">
          <cx:pt idx="0">1</cx:pt>
          <cx:pt idx="1">2</cx:pt>
          <cx:pt idx="2">3</cx:pt>
          <cx:pt idx="3">4</cx:pt>
          <cx:pt idx="4">5</cx:pt>
          <cx:pt idx="5">6</cx:pt>
          <cx:pt idx="6">7</cx:pt>
          <cx:pt idx="7">8</cx:pt>
          <cx:pt idx="8">9</cx:pt>
          <cx:pt idx="9">10</cx:pt>
        </cx:lvl>
      </cx:numDim>
    </cx:data>
  </cx:chartData>
  <cx:chart>
    <cx:title pos="t" align="ctr" overlay="0">
      <cx:tx>
        <cx:rich>
          <a:bodyPr spcFirstLastPara="1" vertOverflow="ellipsis" horzOverflow="overflow" wrap="square" lIns="0" tIns="0" rIns="0" bIns="0" anchor="ctr" anchorCtr="1"/>
          <a:lstStyle/>
          <a:p>
            <a:pPr algn="ctr" rtl="0">
              <a:defRPr/>
            </a:pPr>
            <a:r>
              <a:rPr lang="en-US" sz="1400" b="0" i="0" u="none" strike="noStrike" baseline="0">
                <a:solidFill>
                  <a:sysClr val="windowText" lastClr="000000">
                    <a:lumMod val="65000"/>
                    <a:lumOff val="35000"/>
                  </a:sysClr>
                </a:solidFill>
                <a:effectLst/>
                <a:latin typeface="Aptos Narrow" panose="02110004020202020204"/>
                <a:ea typeface="Calibri" panose="020F0502020204030204" pitchFamily="34" charset="0"/>
                <a:cs typeface="Calibri" panose="020F0502020204030204" pitchFamily="34" charset="0"/>
              </a:rPr>
              <a:t>Ranking users based on Total Engagement</a:t>
            </a:r>
            <a:endParaRPr lang="en-US" sz="1400" b="0" i="0" u="none" strike="noStrike" baseline="0">
              <a:solidFill>
                <a:sysClr val="windowText" lastClr="000000">
                  <a:lumMod val="65000"/>
                  <a:lumOff val="35000"/>
                </a:sysClr>
              </a:solidFill>
              <a:latin typeface="Aptos Narrow" panose="02110004020202020204"/>
            </a:endParaRPr>
          </a:p>
        </cx:rich>
      </cx:tx>
    </cx:title>
    <cx:plotArea>
      <cx:plotAreaRegion>
        <cx:series layoutId="funnel" uniqueId="{7205334B-B79A-4A07-B7F3-353D6A973299}" formatIdx="0">
          <cx:tx>
            <cx:txData>
              <cx:f>'11th'!$B$1</cx:f>
              <cx:v>total_likes</cx:v>
            </cx:txData>
          </cx:tx>
          <cx:dataLabels>
            <cx:visibility seriesName="0" categoryName="0" value="1"/>
          </cx:dataLabels>
          <cx:dataId val="0"/>
        </cx:series>
        <cx:series layoutId="funnel" hidden="1" uniqueId="{BFFA441E-5F7F-4C7B-8204-3D172D15DA06}" formatIdx="1">
          <cx:tx>
            <cx:txData>
              <cx:f>'11th'!$C$1</cx:f>
              <cx:v>total_comments</cx:v>
            </cx:txData>
          </cx:tx>
          <cx:dataLabels>
            <cx:visibility seriesName="0" categoryName="0" value="1"/>
          </cx:dataLabels>
          <cx:dataId val="1"/>
        </cx:series>
        <cx:series layoutId="funnel" hidden="1" uniqueId="{30229837-302A-4C4E-92C4-BF95C83AA08C}" formatIdx="2">
          <cx:tx>
            <cx:txData>
              <cx:f>'11th'!$D$1</cx:f>
              <cx:v>total_engagement</cx:v>
            </cx:txData>
          </cx:tx>
          <cx:dataLabels>
            <cx:visibility seriesName="0" categoryName="0" value="1"/>
          </cx:dataLabels>
          <cx:dataId val="2"/>
        </cx:series>
        <cx:series layoutId="funnel" hidden="1" uniqueId="{D0C8C10A-DF83-40A1-97D4-84C586AED72B}" formatIdx="3">
          <cx:tx>
            <cx:txData>
              <cx:f>'11th'!$E$1</cx:f>
              <cx:v>engagement_rank</cx:v>
            </cx:txData>
          </cx:tx>
          <cx:dataLabels>
            <cx:visibility seriesName="0" categoryName="0" value="1"/>
          </cx:dataLabels>
          <cx:dataId val="3"/>
        </cx:series>
      </cx:plotAreaRegion>
      <cx:axis id="0">
        <cx:catScaling gapWidth="0.0599999987"/>
        <cx:title>
          <cx:tx>
            <cx:txData>
              <cx:v>Username</cx:v>
            </cx:txData>
          </cx:tx>
          <cx:txPr>
            <a:bodyPr spcFirstLastPara="1" vertOverflow="ellipsis" horzOverflow="overflow" wrap="square" lIns="0" tIns="0" rIns="0" bIns="0" anchor="ctr" anchorCtr="1"/>
            <a:lstStyle/>
            <a:p>
              <a:pPr algn="ctr" rtl="0">
                <a:defRPr/>
              </a:pPr>
              <a:r>
                <a:rPr lang="en-US" sz="900" b="0" i="0" u="none" strike="noStrike" baseline="0">
                  <a:solidFill>
                    <a:sysClr val="windowText" lastClr="000000">
                      <a:lumMod val="65000"/>
                      <a:lumOff val="35000"/>
                    </a:sysClr>
                  </a:solidFill>
                  <a:latin typeface="Aptos Narrow" panose="02110004020202020204"/>
                </a:rPr>
                <a:t>Username</a:t>
              </a:r>
            </a:p>
          </cx:txPr>
        </cx:title>
        <cx:tickLabels/>
      </cx:axis>
    </cx:plotArea>
  </cx:chart>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507CD-7007-4A49-AFD2-04E72AD991C6}"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E0BF5-8EA8-47DF-AA8C-E7E570E77011}" type="slidenum">
              <a:rPr lang="en-US" smtClean="0"/>
              <a:t>‹#›</a:t>
            </a:fld>
            <a:endParaRPr lang="en-US"/>
          </a:p>
        </p:txBody>
      </p:sp>
    </p:spTree>
    <p:extLst>
      <p:ext uri="{BB962C8B-B14F-4D97-AF65-F5344CB8AC3E}">
        <p14:creationId xmlns:p14="http://schemas.microsoft.com/office/powerpoint/2010/main" val="403194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E0BF5-8EA8-47DF-AA8C-E7E570E77011}" type="slidenum">
              <a:rPr lang="en-US" smtClean="0"/>
              <a:t>6</a:t>
            </a:fld>
            <a:endParaRPr lang="en-US"/>
          </a:p>
        </p:txBody>
      </p:sp>
    </p:spTree>
    <p:extLst>
      <p:ext uri="{BB962C8B-B14F-4D97-AF65-F5344CB8AC3E}">
        <p14:creationId xmlns:p14="http://schemas.microsoft.com/office/powerpoint/2010/main" val="3218684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1/22/2026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1/22/2026</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1/22/2026</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rive.google.com/file/d/1wSXXQboFYXgJXxccj4i-cKfIX5QtdPwH/view?usp=drive_lin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4/relationships/chartEx" Target="../charts/chartEx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5E6E69F2-0235-4F71-A7DA-7E1EA0BB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29" name="Group 5128">
            <a:extLst>
              <a:ext uri="{FF2B5EF4-FFF2-40B4-BE49-F238E27FC236}">
                <a16:creationId xmlns:a16="http://schemas.microsoft.com/office/drawing/2014/main" id="{542D2976-52CB-4C9F-856C-00079CCF13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5130" name="Freeform 5">
              <a:extLst>
                <a:ext uri="{FF2B5EF4-FFF2-40B4-BE49-F238E27FC236}">
                  <a16:creationId xmlns:a16="http://schemas.microsoft.com/office/drawing/2014/main" id="{F9CA6789-C5E9-4D04-8829-9FBCB5C976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1" name="Freeform 6">
              <a:extLst>
                <a:ext uri="{FF2B5EF4-FFF2-40B4-BE49-F238E27FC236}">
                  <a16:creationId xmlns:a16="http://schemas.microsoft.com/office/drawing/2014/main" id="{A45D90B3-D9F6-4ED0-95BB-55B03D18D40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2" name="Freeform 7">
              <a:extLst>
                <a:ext uri="{FF2B5EF4-FFF2-40B4-BE49-F238E27FC236}">
                  <a16:creationId xmlns:a16="http://schemas.microsoft.com/office/drawing/2014/main" id="{E45839B1-4994-4C29-838E-B31A134DE8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3" name="Freeform 8">
              <a:extLst>
                <a:ext uri="{FF2B5EF4-FFF2-40B4-BE49-F238E27FC236}">
                  <a16:creationId xmlns:a16="http://schemas.microsoft.com/office/drawing/2014/main" id="{F8DDCC87-D85B-4CA9-AFBF-3282BEE4D8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4" name="Freeform 9">
              <a:extLst>
                <a:ext uri="{FF2B5EF4-FFF2-40B4-BE49-F238E27FC236}">
                  <a16:creationId xmlns:a16="http://schemas.microsoft.com/office/drawing/2014/main" id="{2626ABCA-97CD-4CFC-B2F6-7EBF7B615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5" name="Freeform 10">
              <a:extLst>
                <a:ext uri="{FF2B5EF4-FFF2-40B4-BE49-F238E27FC236}">
                  <a16:creationId xmlns:a16="http://schemas.microsoft.com/office/drawing/2014/main" id="{1FA90D2E-5761-4768-910B-17A91F6E3B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6" name="Freeform 11">
              <a:extLst>
                <a:ext uri="{FF2B5EF4-FFF2-40B4-BE49-F238E27FC236}">
                  <a16:creationId xmlns:a16="http://schemas.microsoft.com/office/drawing/2014/main" id="{26B5A0F6-9A62-4FAB-B896-823AE0F05C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7" name="Freeform 12">
              <a:extLst>
                <a:ext uri="{FF2B5EF4-FFF2-40B4-BE49-F238E27FC236}">
                  <a16:creationId xmlns:a16="http://schemas.microsoft.com/office/drawing/2014/main" id="{9658E7A0-1A7B-4A9D-80D4-1AA1638EE8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8" name="Freeform 13">
              <a:extLst>
                <a:ext uri="{FF2B5EF4-FFF2-40B4-BE49-F238E27FC236}">
                  <a16:creationId xmlns:a16="http://schemas.microsoft.com/office/drawing/2014/main" id="{1AB48ACF-B9F6-4AC1-8FE3-4A5670A9EC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39" name="Freeform 14">
              <a:extLst>
                <a:ext uri="{FF2B5EF4-FFF2-40B4-BE49-F238E27FC236}">
                  <a16:creationId xmlns:a16="http://schemas.microsoft.com/office/drawing/2014/main" id="{585883F2-6303-4896-B2D3-532A48B126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0" name="Freeform 15">
              <a:extLst>
                <a:ext uri="{FF2B5EF4-FFF2-40B4-BE49-F238E27FC236}">
                  <a16:creationId xmlns:a16="http://schemas.microsoft.com/office/drawing/2014/main" id="{FCD1B6EB-F591-47F1-9DD2-EADF9280BE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1" name="Freeform 16">
              <a:extLst>
                <a:ext uri="{FF2B5EF4-FFF2-40B4-BE49-F238E27FC236}">
                  <a16:creationId xmlns:a16="http://schemas.microsoft.com/office/drawing/2014/main" id="{3BFF9A65-15C6-46EA-AA51-87DDE0BCB5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2" name="Freeform 17">
              <a:extLst>
                <a:ext uri="{FF2B5EF4-FFF2-40B4-BE49-F238E27FC236}">
                  <a16:creationId xmlns:a16="http://schemas.microsoft.com/office/drawing/2014/main" id="{5E22D288-7497-4371-9B59-077DF38A11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3" name="Freeform 18">
              <a:extLst>
                <a:ext uri="{FF2B5EF4-FFF2-40B4-BE49-F238E27FC236}">
                  <a16:creationId xmlns:a16="http://schemas.microsoft.com/office/drawing/2014/main" id="{C29C987E-F669-462E-90E7-9361BB1886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4" name="Freeform 19">
              <a:extLst>
                <a:ext uri="{FF2B5EF4-FFF2-40B4-BE49-F238E27FC236}">
                  <a16:creationId xmlns:a16="http://schemas.microsoft.com/office/drawing/2014/main" id="{E370ABFC-202E-4885-8B2A-108D2C1F95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5" name="Freeform 20">
              <a:extLst>
                <a:ext uri="{FF2B5EF4-FFF2-40B4-BE49-F238E27FC236}">
                  <a16:creationId xmlns:a16="http://schemas.microsoft.com/office/drawing/2014/main" id="{CD72D068-DF16-4A2B-8631-EF0DD3BF06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6" name="Freeform 21">
              <a:extLst>
                <a:ext uri="{FF2B5EF4-FFF2-40B4-BE49-F238E27FC236}">
                  <a16:creationId xmlns:a16="http://schemas.microsoft.com/office/drawing/2014/main" id="{4CB90F5B-0FD4-4160-86F3-F861FB59E0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7" name="Freeform 22">
              <a:extLst>
                <a:ext uri="{FF2B5EF4-FFF2-40B4-BE49-F238E27FC236}">
                  <a16:creationId xmlns:a16="http://schemas.microsoft.com/office/drawing/2014/main" id="{CE391271-F02C-46F5-AACB-49CA4C7687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48" name="Freeform 23">
              <a:extLst>
                <a:ext uri="{FF2B5EF4-FFF2-40B4-BE49-F238E27FC236}">
                  <a16:creationId xmlns:a16="http://schemas.microsoft.com/office/drawing/2014/main" id="{615CF4FD-5F23-4C65-9ED2-E08683C71F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5122" name="Picture 2">
            <a:extLst>
              <a:ext uri="{FF2B5EF4-FFF2-40B4-BE49-F238E27FC236}">
                <a16:creationId xmlns:a16="http://schemas.microsoft.com/office/drawing/2014/main" id="{9CEA1520-2C7B-E7F7-2E67-5199FD8A3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784" r="13597"/>
          <a:stretch>
            <a:fillRect/>
          </a:stretch>
        </p:blipFill>
        <p:spPr bwMode="auto">
          <a:xfrm>
            <a:off x="20" y="227"/>
            <a:ext cx="4637303" cy="6858000"/>
          </a:xfrm>
          <a:prstGeom prst="rect">
            <a:avLst/>
          </a:prstGeom>
          <a:noFill/>
          <a:ln w="9525">
            <a:noFill/>
          </a:ln>
          <a:extLst>
            <a:ext uri="{909E8E84-426E-40DD-AFC4-6F175D3DCCD1}">
              <a14:hiddenFill xmlns:a14="http://schemas.microsoft.com/office/drawing/2010/main">
                <a:solidFill>
                  <a:srgbClr val="FFFFFF"/>
                </a:solidFill>
              </a14:hiddenFill>
            </a:ext>
          </a:extLst>
        </p:spPr>
      </p:pic>
      <p:grpSp>
        <p:nvGrpSpPr>
          <p:cNvPr id="5150" name="Group 5149">
            <a:extLst>
              <a:ext uri="{FF2B5EF4-FFF2-40B4-BE49-F238E27FC236}">
                <a16:creationId xmlns:a16="http://schemas.microsoft.com/office/drawing/2014/main" id="{3D735544-EA59-4A7D-B899-D0038636FE7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55064" y="1186483"/>
            <a:ext cx="5941686" cy="4477933"/>
            <a:chOff x="807084" y="1186483"/>
            <a:chExt cx="5941686" cy="4477933"/>
          </a:xfrm>
        </p:grpSpPr>
        <p:sp>
          <p:nvSpPr>
            <p:cNvPr id="5151" name="Rectangle 5150">
              <a:extLst>
                <a:ext uri="{FF2B5EF4-FFF2-40B4-BE49-F238E27FC236}">
                  <a16:creationId xmlns:a16="http://schemas.microsoft.com/office/drawing/2014/main" id="{5C26DA1E-7074-43BA-989F-774101735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7780" y="1186483"/>
              <a:ext cx="5940295"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2" name="Isosceles Triangle 39">
              <a:extLst>
                <a:ext uri="{FF2B5EF4-FFF2-40B4-BE49-F238E27FC236}">
                  <a16:creationId xmlns:a16="http://schemas.microsoft.com/office/drawing/2014/main" id="{94CD1AE4-60CE-4C0F-909B-00CBF3738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3574311"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3" name="Rectangle 5152">
              <a:extLst>
                <a:ext uri="{FF2B5EF4-FFF2-40B4-BE49-F238E27FC236}">
                  <a16:creationId xmlns:a16="http://schemas.microsoft.com/office/drawing/2014/main" id="{26E1361B-4A31-46C2-85EC-02778637E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7084" y="1991156"/>
              <a:ext cx="5941686"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DCFA660-8F57-4EFA-3261-E9E2253C5AE9}"/>
              </a:ext>
            </a:extLst>
          </p:cNvPr>
          <p:cNvSpPr>
            <a:spLocks noGrp="1"/>
          </p:cNvSpPr>
          <p:nvPr>
            <p:ph type="ctrTitle"/>
          </p:nvPr>
        </p:nvSpPr>
        <p:spPr>
          <a:xfrm>
            <a:off x="5543394" y="2075504"/>
            <a:ext cx="5769989" cy="1748729"/>
          </a:xfrm>
        </p:spPr>
        <p:txBody>
          <a:bodyPr>
            <a:normAutofit/>
          </a:bodyPr>
          <a:lstStyle/>
          <a:p>
            <a:r>
              <a:rPr lang="en-US" sz="3800" b="1" dirty="0"/>
              <a:t>ENHANCING INSTAGRAM ENGAGEMENT THROUGH DATA-DRIVEN MARKETING</a:t>
            </a:r>
            <a:endParaRPr lang="en-IN" sz="3800" b="1" dirty="0"/>
          </a:p>
        </p:txBody>
      </p:sp>
      <p:sp>
        <p:nvSpPr>
          <p:cNvPr id="3" name="Subtitle 2">
            <a:extLst>
              <a:ext uri="{FF2B5EF4-FFF2-40B4-BE49-F238E27FC236}">
                <a16:creationId xmlns:a16="http://schemas.microsoft.com/office/drawing/2014/main" id="{A5AA0233-5904-3B27-9238-8D3320064F39}"/>
              </a:ext>
            </a:extLst>
          </p:cNvPr>
          <p:cNvSpPr>
            <a:spLocks noGrp="1"/>
          </p:cNvSpPr>
          <p:nvPr>
            <p:ph type="subTitle" idx="1"/>
          </p:nvPr>
        </p:nvSpPr>
        <p:spPr>
          <a:xfrm>
            <a:off x="5543396" y="3906266"/>
            <a:ext cx="5769988" cy="1322587"/>
          </a:xfrm>
        </p:spPr>
        <p:txBody>
          <a:bodyPr>
            <a:normAutofit/>
          </a:bodyPr>
          <a:lstStyle/>
          <a:p>
            <a:endParaRPr lang="en-IN" dirty="0"/>
          </a:p>
          <a:p>
            <a:r>
              <a:rPr lang="en-IN" dirty="0"/>
              <a:t>BY  ADITYA CHATTERJEE</a:t>
            </a:r>
          </a:p>
        </p:txBody>
      </p:sp>
    </p:spTree>
    <p:extLst>
      <p:ext uri="{BB962C8B-B14F-4D97-AF65-F5344CB8AC3E}">
        <p14:creationId xmlns:p14="http://schemas.microsoft.com/office/powerpoint/2010/main" val="265385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5A97-DADC-C0A7-C0B0-C07CD64E07C7}"/>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97FFC85A-6085-2C7A-F67F-4094DC70BCA2}"/>
              </a:ext>
            </a:extLst>
          </p:cNvPr>
          <p:cNvSpPr>
            <a:spLocks noGrp="1"/>
          </p:cNvSpPr>
          <p:nvPr>
            <p:ph idx="1"/>
          </p:nvPr>
        </p:nvSpPr>
        <p:spPr/>
        <p:txBody>
          <a:bodyPr/>
          <a:lstStyle/>
          <a:p>
            <a:pPr marL="0" indent="0" algn="ctr">
              <a:buNone/>
            </a:pPr>
            <a:r>
              <a:rPr lang="en-US" dirty="0"/>
              <a:t>“Behind every like, comment, and follow lies a story that can shape our next growth strategy.”        </a:t>
            </a:r>
          </a:p>
          <a:p>
            <a:pPr marL="0" indent="0" algn="ctr">
              <a:buNone/>
            </a:pPr>
            <a:r>
              <a:rPr lang="en-US" sz="2000" b="1" dirty="0"/>
              <a:t> </a:t>
            </a:r>
            <a:r>
              <a:rPr lang="en-US" dirty="0"/>
              <a:t>Through this analysis, multiple </a:t>
            </a:r>
            <a:r>
              <a:rPr lang="en-US" b="1" dirty="0"/>
              <a:t>insight layers and visualizations</a:t>
            </a:r>
            <a:r>
              <a:rPr lang="en-US" dirty="0"/>
              <a:t> have emerged, providing a data-driven foundation to design </a:t>
            </a:r>
            <a:r>
              <a:rPr lang="en-US" b="1" dirty="0"/>
              <a:t>targeted marketing strategies</a:t>
            </a:r>
            <a:r>
              <a:rPr lang="en-US" dirty="0"/>
              <a:t> aimed at improving </a:t>
            </a:r>
            <a:r>
              <a:rPr lang="en-US" b="1" dirty="0"/>
              <a:t>user engagement, retention, and acquisition</a:t>
            </a:r>
            <a:r>
              <a:rPr lang="en-US" dirty="0"/>
              <a:t>. These insights help translate raw interaction data into </a:t>
            </a:r>
            <a:r>
              <a:rPr lang="en-US" b="1" dirty="0"/>
              <a:t>actionable business decisions</a:t>
            </a:r>
            <a:r>
              <a:rPr lang="en-US" dirty="0"/>
              <a:t> that drive sustainable platform growth.</a:t>
            </a:r>
          </a:p>
          <a:p>
            <a:pPr marL="0" indent="0">
              <a:buNone/>
            </a:pPr>
            <a:endParaRPr lang="en-US" dirty="0"/>
          </a:p>
          <a:p>
            <a:pPr marL="0" indent="0">
              <a:buNone/>
            </a:pPr>
            <a:endParaRPr lang="en-US" dirty="0"/>
          </a:p>
          <a:p>
            <a:pPr marL="0" indent="0">
              <a:buNone/>
            </a:pPr>
            <a:endParaRPr lang="en-IN" dirty="0"/>
          </a:p>
        </p:txBody>
      </p:sp>
      <p:pic>
        <p:nvPicPr>
          <p:cNvPr id="6146" name="Picture 2">
            <a:extLst>
              <a:ext uri="{FF2B5EF4-FFF2-40B4-BE49-F238E27FC236}">
                <a16:creationId xmlns:a16="http://schemas.microsoft.com/office/drawing/2014/main" id="{2146AA48-7158-9479-8FB7-D166A6CD2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0369" y="285699"/>
            <a:ext cx="1839951" cy="1034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125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3C687-367A-C378-D852-AE754CF56048}"/>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2A84836F-BE0E-2147-4643-6D513BD288F7}"/>
              </a:ext>
            </a:extLst>
          </p:cNvPr>
          <p:cNvSpPr>
            <a:spLocks noGrp="1"/>
          </p:cNvSpPr>
          <p:nvPr>
            <p:ph idx="1"/>
          </p:nvPr>
        </p:nvSpPr>
        <p:spPr/>
        <p:txBody>
          <a:bodyPr/>
          <a:lstStyle/>
          <a:p>
            <a:endParaRPr lang="en-US" dirty="0">
              <a:solidFill>
                <a:schemeClr val="dk1"/>
              </a:solidFill>
            </a:endParaRPr>
          </a:p>
          <a:p>
            <a:endParaRPr lang="en-US" dirty="0">
              <a:solidFill>
                <a:schemeClr val="dk1"/>
              </a:solidFill>
            </a:endParaRPr>
          </a:p>
          <a:p>
            <a:endParaRPr lang="en-US" dirty="0">
              <a:solidFill>
                <a:schemeClr val="dk1"/>
              </a:solidFill>
            </a:endParaRPr>
          </a:p>
          <a:p>
            <a:r>
              <a:rPr lang="en-US" dirty="0">
                <a:solidFill>
                  <a:schemeClr val="dk1"/>
                </a:solidFill>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p>
          <a:p>
            <a:endParaRPr lang="en-IN" dirty="0"/>
          </a:p>
        </p:txBody>
      </p:sp>
      <p:pic>
        <p:nvPicPr>
          <p:cNvPr id="7170" name="Picture 2">
            <a:extLst>
              <a:ext uri="{FF2B5EF4-FFF2-40B4-BE49-F238E27FC236}">
                <a16:creationId xmlns:a16="http://schemas.microsoft.com/office/drawing/2014/main" id="{94DBC8FA-AF65-AF48-8C7E-16AE4ACF4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3266" y="635425"/>
            <a:ext cx="2657475"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766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7F1B6-830E-70F9-49B2-CB43AE7CFDB5}"/>
              </a:ext>
            </a:extLst>
          </p:cNvPr>
          <p:cNvSpPr>
            <a:spLocks noGrp="1"/>
          </p:cNvSpPr>
          <p:nvPr>
            <p:ph type="title"/>
          </p:nvPr>
        </p:nvSpPr>
        <p:spPr/>
        <p:txBody>
          <a:bodyPr/>
          <a:lstStyle/>
          <a:p>
            <a:r>
              <a:rPr lang="en-IN" dirty="0"/>
              <a:t>DATA OVERVIEW</a:t>
            </a:r>
          </a:p>
        </p:txBody>
      </p:sp>
      <p:sp>
        <p:nvSpPr>
          <p:cNvPr id="3" name="Content Placeholder 2">
            <a:extLst>
              <a:ext uri="{FF2B5EF4-FFF2-40B4-BE49-F238E27FC236}">
                <a16:creationId xmlns:a16="http://schemas.microsoft.com/office/drawing/2014/main" id="{1D2740B0-6CC5-6734-9F1D-621DE5EB3B5C}"/>
              </a:ext>
            </a:extLst>
          </p:cNvPr>
          <p:cNvSpPr>
            <a:spLocks noGrp="1"/>
          </p:cNvSpPr>
          <p:nvPr>
            <p:ph idx="1"/>
          </p:nvPr>
        </p:nvSpPr>
        <p:spPr>
          <a:xfrm>
            <a:off x="4928841" y="725579"/>
            <a:ext cx="6482632" cy="5739574"/>
          </a:xfrm>
        </p:spPr>
        <p:txBody>
          <a:bodyPr>
            <a:normAutofit/>
          </a:bodyPr>
          <a:lstStyle/>
          <a:p>
            <a:pPr marL="457200" lvl="0" indent="-330200">
              <a:spcBef>
                <a:spcPts val="0"/>
              </a:spcBef>
              <a:buClr>
                <a:schemeClr val="dk1"/>
              </a:buClr>
              <a:buSzPts val="1600"/>
              <a:buChar char="●"/>
            </a:pPr>
            <a:r>
              <a:rPr lang="en-US" dirty="0" err="1">
                <a:solidFill>
                  <a:schemeClr val="dk1"/>
                </a:solidFill>
              </a:rPr>
              <a:t>comments_id</a:t>
            </a:r>
            <a:r>
              <a:rPr lang="en-US" dirty="0">
                <a:solidFill>
                  <a:schemeClr val="dk1"/>
                </a:solidFill>
              </a:rPr>
              <a:t> : unique identifier for each comment</a:t>
            </a:r>
          </a:p>
          <a:p>
            <a:pPr marL="457200" lvl="0" indent="-330200">
              <a:spcBef>
                <a:spcPts val="0"/>
              </a:spcBef>
              <a:buClr>
                <a:schemeClr val="dk1"/>
              </a:buClr>
              <a:buSzPts val="1600"/>
              <a:buChar char="●"/>
            </a:pPr>
            <a:r>
              <a:rPr lang="en-US" dirty="0" err="1">
                <a:solidFill>
                  <a:schemeClr val="dk1"/>
                </a:solidFill>
              </a:rPr>
              <a:t>comment_text</a:t>
            </a:r>
            <a:r>
              <a:rPr lang="en-US" dirty="0">
                <a:solidFill>
                  <a:schemeClr val="dk1"/>
                </a:solidFill>
              </a:rPr>
              <a:t> : text content of a given comment</a:t>
            </a:r>
          </a:p>
          <a:p>
            <a:pPr marL="457200" lvl="0" indent="-330200">
              <a:spcBef>
                <a:spcPts val="0"/>
              </a:spcBef>
              <a:buClr>
                <a:schemeClr val="dk1"/>
              </a:buClr>
              <a:buSzPts val="1600"/>
              <a:buChar char="●"/>
            </a:pPr>
            <a:r>
              <a:rPr lang="en-US" dirty="0" err="1">
                <a:solidFill>
                  <a:schemeClr val="dk1"/>
                </a:solidFill>
              </a:rPr>
              <a:t>user_id</a:t>
            </a:r>
            <a:r>
              <a:rPr lang="en-US" dirty="0">
                <a:solidFill>
                  <a:schemeClr val="dk1"/>
                </a:solidFill>
              </a:rPr>
              <a:t> : unique identifier for each user</a:t>
            </a:r>
          </a:p>
          <a:p>
            <a:pPr marL="457200" lvl="0" indent="-330200">
              <a:spcBef>
                <a:spcPts val="0"/>
              </a:spcBef>
              <a:buClr>
                <a:schemeClr val="dk1"/>
              </a:buClr>
              <a:buSzPts val="1600"/>
              <a:buChar char="●"/>
            </a:pPr>
            <a:r>
              <a:rPr lang="en-US" dirty="0" err="1">
                <a:solidFill>
                  <a:schemeClr val="dk1"/>
                </a:solidFill>
              </a:rPr>
              <a:t>photo_id</a:t>
            </a:r>
            <a:r>
              <a:rPr lang="en-US" dirty="0">
                <a:solidFill>
                  <a:schemeClr val="dk1"/>
                </a:solidFill>
              </a:rPr>
              <a:t> : unique identifier for each photo</a:t>
            </a:r>
          </a:p>
          <a:p>
            <a:pPr marL="457200" lvl="0" indent="-330200">
              <a:spcBef>
                <a:spcPts val="0"/>
              </a:spcBef>
              <a:buClr>
                <a:schemeClr val="dk1"/>
              </a:buClr>
              <a:buSzPts val="1600"/>
              <a:buChar char="●"/>
            </a:pPr>
            <a:r>
              <a:rPr lang="en-US" dirty="0" err="1">
                <a:solidFill>
                  <a:schemeClr val="dk1"/>
                </a:solidFill>
              </a:rPr>
              <a:t>created_at</a:t>
            </a:r>
            <a:r>
              <a:rPr lang="en-US" dirty="0">
                <a:solidFill>
                  <a:schemeClr val="dk1"/>
                </a:solidFill>
              </a:rPr>
              <a:t> : date of interaction in the form like, photos, tags</a:t>
            </a:r>
          </a:p>
          <a:p>
            <a:pPr marL="457200" lvl="0" indent="-330200">
              <a:spcBef>
                <a:spcPts val="0"/>
              </a:spcBef>
              <a:buClr>
                <a:schemeClr val="dk1"/>
              </a:buClr>
              <a:buSzPts val="1600"/>
              <a:buChar char="●"/>
            </a:pPr>
            <a:r>
              <a:rPr lang="en-US" dirty="0" err="1">
                <a:solidFill>
                  <a:schemeClr val="dk1"/>
                </a:solidFill>
              </a:rPr>
              <a:t>follower_id</a:t>
            </a:r>
            <a:r>
              <a:rPr lang="en-US" dirty="0">
                <a:solidFill>
                  <a:schemeClr val="dk1"/>
                </a:solidFill>
              </a:rPr>
              <a:t> : </a:t>
            </a:r>
            <a:r>
              <a:rPr lang="en-US" dirty="0" err="1">
                <a:solidFill>
                  <a:schemeClr val="dk1"/>
                </a:solidFill>
              </a:rPr>
              <a:t>user_id</a:t>
            </a:r>
            <a:r>
              <a:rPr lang="en-US" dirty="0">
                <a:solidFill>
                  <a:schemeClr val="dk1"/>
                </a:solidFill>
              </a:rPr>
              <a:t> of the follower for a certain user</a:t>
            </a:r>
          </a:p>
          <a:p>
            <a:pPr marL="457200" lvl="0" indent="-330200">
              <a:spcBef>
                <a:spcPts val="0"/>
              </a:spcBef>
              <a:buClr>
                <a:schemeClr val="dk1"/>
              </a:buClr>
              <a:buSzPts val="1600"/>
              <a:buChar char="●"/>
            </a:pPr>
            <a:r>
              <a:rPr lang="en-US" dirty="0" err="1">
                <a:solidFill>
                  <a:schemeClr val="dk1"/>
                </a:solidFill>
              </a:rPr>
              <a:t>followee_id</a:t>
            </a:r>
            <a:r>
              <a:rPr lang="en-US" dirty="0">
                <a:solidFill>
                  <a:schemeClr val="dk1"/>
                </a:solidFill>
              </a:rPr>
              <a:t> : </a:t>
            </a:r>
            <a:r>
              <a:rPr lang="en-US" dirty="0" err="1">
                <a:solidFill>
                  <a:schemeClr val="dk1"/>
                </a:solidFill>
              </a:rPr>
              <a:t>user_id</a:t>
            </a:r>
            <a:r>
              <a:rPr lang="en-US" dirty="0">
                <a:solidFill>
                  <a:schemeClr val="dk1"/>
                </a:solidFill>
              </a:rPr>
              <a:t> of </a:t>
            </a:r>
            <a:r>
              <a:rPr lang="en-US" dirty="0" err="1">
                <a:solidFill>
                  <a:schemeClr val="dk1"/>
                </a:solidFill>
              </a:rPr>
              <a:t>followee</a:t>
            </a:r>
            <a:r>
              <a:rPr lang="en-US" dirty="0">
                <a:solidFill>
                  <a:schemeClr val="dk1"/>
                </a:solidFill>
              </a:rPr>
              <a:t> for a certain user</a:t>
            </a:r>
          </a:p>
          <a:p>
            <a:pPr marL="457200" lvl="0" indent="-330200">
              <a:spcBef>
                <a:spcPts val="0"/>
              </a:spcBef>
              <a:buClr>
                <a:schemeClr val="dk1"/>
              </a:buClr>
              <a:buSzPts val="1600"/>
              <a:buChar char="●"/>
            </a:pPr>
            <a:r>
              <a:rPr lang="en-US" dirty="0" err="1">
                <a:solidFill>
                  <a:schemeClr val="dk1"/>
                </a:solidFill>
              </a:rPr>
              <a:t>tag_id</a:t>
            </a:r>
            <a:r>
              <a:rPr lang="en-US" dirty="0">
                <a:solidFill>
                  <a:schemeClr val="dk1"/>
                </a:solidFill>
              </a:rPr>
              <a:t> : unique identifier for each tag</a:t>
            </a:r>
          </a:p>
          <a:p>
            <a:pPr marL="457200" lvl="0" indent="-330200">
              <a:spcBef>
                <a:spcPts val="0"/>
              </a:spcBef>
              <a:buClr>
                <a:schemeClr val="dk1"/>
              </a:buClr>
              <a:buSzPts val="1600"/>
              <a:buChar char="●"/>
            </a:pPr>
            <a:r>
              <a:rPr lang="en-US" dirty="0" err="1">
                <a:solidFill>
                  <a:schemeClr val="dk1"/>
                </a:solidFill>
              </a:rPr>
              <a:t>image_url</a:t>
            </a:r>
            <a:r>
              <a:rPr lang="en-US" dirty="0">
                <a:solidFill>
                  <a:schemeClr val="dk1"/>
                </a:solidFill>
              </a:rPr>
              <a:t> : link to the image posted on the platform</a:t>
            </a:r>
          </a:p>
          <a:p>
            <a:pPr marL="457200" lvl="0" indent="-330200">
              <a:spcBef>
                <a:spcPts val="0"/>
              </a:spcBef>
              <a:buClr>
                <a:schemeClr val="dk1"/>
              </a:buClr>
              <a:buSzPts val="1600"/>
              <a:buChar char="●"/>
            </a:pPr>
            <a:r>
              <a:rPr lang="en-US" dirty="0">
                <a:solidFill>
                  <a:schemeClr val="dk1"/>
                </a:solidFill>
              </a:rPr>
              <a:t>username : username chosen by the user</a:t>
            </a:r>
          </a:p>
          <a:p>
            <a:pPr marL="457200" lvl="0" indent="-330200">
              <a:spcBef>
                <a:spcPts val="0"/>
              </a:spcBef>
              <a:buClr>
                <a:schemeClr val="dk1"/>
              </a:buClr>
              <a:buSzPts val="1600"/>
              <a:buChar char="●"/>
            </a:pPr>
            <a:endParaRPr lang="en-US" dirty="0">
              <a:solidFill>
                <a:schemeClr val="dk1"/>
              </a:solidFill>
            </a:endParaRPr>
          </a:p>
          <a:p>
            <a:pPr marL="127000" lvl="0" indent="0">
              <a:spcBef>
                <a:spcPts val="0"/>
              </a:spcBef>
              <a:buClr>
                <a:schemeClr val="dk1"/>
              </a:buClr>
              <a:buSzPts val="1600"/>
              <a:buNone/>
            </a:pPr>
            <a:r>
              <a:rPr lang="en-US" dirty="0">
                <a:solidFill>
                  <a:schemeClr val="dk1"/>
                </a:solidFill>
              </a:rPr>
              <a:t>DATABASE LINK:</a:t>
            </a:r>
            <a:r>
              <a:rPr lang="en-IN" dirty="0">
                <a:hlinkClick r:id="rId2"/>
              </a:rPr>
              <a:t>https://drive.google.com/file/d/1wSXXQboFYXgJXxccj4i-cKfIX5QtdPwH/view?usp=drive_link</a:t>
            </a:r>
            <a:endParaRPr lang="en-US" dirty="0">
              <a:solidFill>
                <a:schemeClr val="dk1"/>
              </a:solidFill>
            </a:endParaRPr>
          </a:p>
        </p:txBody>
      </p:sp>
    </p:spTree>
    <p:extLst>
      <p:ext uri="{BB962C8B-B14F-4D97-AF65-F5344CB8AC3E}">
        <p14:creationId xmlns:p14="http://schemas.microsoft.com/office/powerpoint/2010/main" val="1707853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1896-662A-42A9-C1EF-762B6CC5805C}"/>
              </a:ext>
            </a:extLst>
          </p:cNvPr>
          <p:cNvSpPr>
            <a:spLocks noGrp="1"/>
          </p:cNvSpPr>
          <p:nvPr>
            <p:ph type="title"/>
          </p:nvPr>
        </p:nvSpPr>
        <p:spPr/>
        <p:txBody>
          <a:bodyPr/>
          <a:lstStyle/>
          <a:p>
            <a:r>
              <a:rPr lang="en-IN" dirty="0" err="1"/>
              <a:t>DataBase</a:t>
            </a:r>
            <a:r>
              <a:rPr lang="en-IN" dirty="0"/>
              <a:t> Schema</a:t>
            </a:r>
          </a:p>
        </p:txBody>
      </p:sp>
      <p:pic>
        <p:nvPicPr>
          <p:cNvPr id="1026" name="Picture 2">
            <a:extLst>
              <a:ext uri="{FF2B5EF4-FFF2-40B4-BE49-F238E27FC236}">
                <a16:creationId xmlns:a16="http://schemas.microsoft.com/office/drawing/2014/main" id="{BB0947F4-05C0-AD8D-45B1-3C1BA78043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55029" y="257818"/>
            <a:ext cx="6194870" cy="6121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75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2" name="Group 221">
            <a:extLst>
              <a:ext uri="{FF2B5EF4-FFF2-40B4-BE49-F238E27FC236}">
                <a16:creationId xmlns:a16="http://schemas.microsoft.com/office/drawing/2014/main" id="{E024D248-87CA-4666-BB50-B93BF1A6FB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223" name="Freeform 5">
              <a:extLst>
                <a:ext uri="{FF2B5EF4-FFF2-40B4-BE49-F238E27FC236}">
                  <a16:creationId xmlns:a16="http://schemas.microsoft.com/office/drawing/2014/main" id="{81446A0E-C360-4370-A384-224EF4B9D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4" name="Freeform 6">
              <a:extLst>
                <a:ext uri="{FF2B5EF4-FFF2-40B4-BE49-F238E27FC236}">
                  <a16:creationId xmlns:a16="http://schemas.microsoft.com/office/drawing/2014/main" id="{375CF781-ABBD-4539-AE85-B013EDD7E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 name="Freeform 7">
              <a:extLst>
                <a:ext uri="{FF2B5EF4-FFF2-40B4-BE49-F238E27FC236}">
                  <a16:creationId xmlns:a16="http://schemas.microsoft.com/office/drawing/2014/main" id="{F3350EF4-E7A6-48D2-8B21-9DD8F1CB9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6" name="Freeform 8">
              <a:extLst>
                <a:ext uri="{FF2B5EF4-FFF2-40B4-BE49-F238E27FC236}">
                  <a16:creationId xmlns:a16="http://schemas.microsoft.com/office/drawing/2014/main" id="{1F517A69-FE01-464B-9A05-3499576A9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7" name="Freeform 9">
              <a:extLst>
                <a:ext uri="{FF2B5EF4-FFF2-40B4-BE49-F238E27FC236}">
                  <a16:creationId xmlns:a16="http://schemas.microsoft.com/office/drawing/2014/main" id="{AADC7005-409B-4A18-ABD2-3BC40B989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8" name="Freeform 10">
              <a:extLst>
                <a:ext uri="{FF2B5EF4-FFF2-40B4-BE49-F238E27FC236}">
                  <a16:creationId xmlns:a16="http://schemas.microsoft.com/office/drawing/2014/main" id="{E7E7D4D7-F6DE-4530-876A-7AF7ED933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9" name="Freeform 11">
              <a:extLst>
                <a:ext uri="{FF2B5EF4-FFF2-40B4-BE49-F238E27FC236}">
                  <a16:creationId xmlns:a16="http://schemas.microsoft.com/office/drawing/2014/main" id="{4FD811BB-DC05-49BD-934D-C52A0455B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0" name="Freeform 12">
              <a:extLst>
                <a:ext uri="{FF2B5EF4-FFF2-40B4-BE49-F238E27FC236}">
                  <a16:creationId xmlns:a16="http://schemas.microsoft.com/office/drawing/2014/main" id="{328F383D-072B-4F56-8238-83F7F524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1" name="Freeform 13">
              <a:extLst>
                <a:ext uri="{FF2B5EF4-FFF2-40B4-BE49-F238E27FC236}">
                  <a16:creationId xmlns:a16="http://schemas.microsoft.com/office/drawing/2014/main" id="{2F3E6887-3D62-47E0-BF7E-80A33A3EA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2" name="Freeform 14">
              <a:extLst>
                <a:ext uri="{FF2B5EF4-FFF2-40B4-BE49-F238E27FC236}">
                  <a16:creationId xmlns:a16="http://schemas.microsoft.com/office/drawing/2014/main" id="{0F932455-2E90-40F2-914E-CB4D46E56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3" name="Freeform 15">
              <a:extLst>
                <a:ext uri="{FF2B5EF4-FFF2-40B4-BE49-F238E27FC236}">
                  <a16:creationId xmlns:a16="http://schemas.microsoft.com/office/drawing/2014/main" id="{9CE34E18-538E-4FBE-A20F-A3F830A6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4" name="Freeform 16">
              <a:extLst>
                <a:ext uri="{FF2B5EF4-FFF2-40B4-BE49-F238E27FC236}">
                  <a16:creationId xmlns:a16="http://schemas.microsoft.com/office/drawing/2014/main" id="{7D614BDF-54BD-46C3-85E5-96EE7B68B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5" name="Freeform 17">
              <a:extLst>
                <a:ext uri="{FF2B5EF4-FFF2-40B4-BE49-F238E27FC236}">
                  <a16:creationId xmlns:a16="http://schemas.microsoft.com/office/drawing/2014/main" id="{0C98C1F4-37D1-4C8C-B86F-C8F65A3C4D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6" name="Freeform 18">
              <a:extLst>
                <a:ext uri="{FF2B5EF4-FFF2-40B4-BE49-F238E27FC236}">
                  <a16:creationId xmlns:a16="http://schemas.microsoft.com/office/drawing/2014/main" id="{4C38DF64-C855-4E1D-9327-5444A4E86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7" name="Freeform 19">
              <a:extLst>
                <a:ext uri="{FF2B5EF4-FFF2-40B4-BE49-F238E27FC236}">
                  <a16:creationId xmlns:a16="http://schemas.microsoft.com/office/drawing/2014/main" id="{0E27D78D-BB9D-4B2A-8583-B4B2E14FB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8" name="Freeform 20">
              <a:extLst>
                <a:ext uri="{FF2B5EF4-FFF2-40B4-BE49-F238E27FC236}">
                  <a16:creationId xmlns:a16="http://schemas.microsoft.com/office/drawing/2014/main" id="{FD78ECA6-F850-4BA2-AD0A-E32F2C97F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9" name="Freeform 21">
              <a:extLst>
                <a:ext uri="{FF2B5EF4-FFF2-40B4-BE49-F238E27FC236}">
                  <a16:creationId xmlns:a16="http://schemas.microsoft.com/office/drawing/2014/main" id="{86717E14-EE6A-4BA3-B519-F0E6220BB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0" name="Freeform 22">
              <a:extLst>
                <a:ext uri="{FF2B5EF4-FFF2-40B4-BE49-F238E27FC236}">
                  <a16:creationId xmlns:a16="http://schemas.microsoft.com/office/drawing/2014/main" id="{82CDDB7E-90AB-4368-AED4-F2904A31A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1" name="Freeform 23">
              <a:extLst>
                <a:ext uri="{FF2B5EF4-FFF2-40B4-BE49-F238E27FC236}">
                  <a16:creationId xmlns:a16="http://schemas.microsoft.com/office/drawing/2014/main" id="{56B060D4-4D56-4ABD-B495-528477EEA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43" name="Group 242">
            <a:extLst>
              <a:ext uri="{FF2B5EF4-FFF2-40B4-BE49-F238E27FC236}">
                <a16:creationId xmlns:a16="http://schemas.microsoft.com/office/drawing/2014/main" id="{38BE3980-E33C-47F5-9C30-74FF864BE1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244" name="Rectangle 243">
              <a:extLst>
                <a:ext uri="{FF2B5EF4-FFF2-40B4-BE49-F238E27FC236}">
                  <a16:creationId xmlns:a16="http://schemas.microsoft.com/office/drawing/2014/main" id="{75B0C41B-5860-492D-A229-2AD0EB47B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5" name="Isosceles Triangle 244">
              <a:extLst>
                <a:ext uri="{FF2B5EF4-FFF2-40B4-BE49-F238E27FC236}">
                  <a16:creationId xmlns:a16="http://schemas.microsoft.com/office/drawing/2014/main" id="{58FED3E4-0FF2-4D7C-8C6E-F8DA2ED001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6" name="Rectangle 245">
              <a:extLst>
                <a:ext uri="{FF2B5EF4-FFF2-40B4-BE49-F238E27FC236}">
                  <a16:creationId xmlns:a16="http://schemas.microsoft.com/office/drawing/2014/main" id="{524D354D-03E8-4B3C-AE46-3134F3D1B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248" name="Rectangle 247">
            <a:extLst>
              <a:ext uri="{FF2B5EF4-FFF2-40B4-BE49-F238E27FC236}">
                <a16:creationId xmlns:a16="http://schemas.microsoft.com/office/drawing/2014/main" id="{F199CFFE-DA0E-4054-A98E-637FEB1FA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0" name="Group 249">
            <a:extLst>
              <a:ext uri="{FF2B5EF4-FFF2-40B4-BE49-F238E27FC236}">
                <a16:creationId xmlns:a16="http://schemas.microsoft.com/office/drawing/2014/main" id="{79B720E2-8A02-4886-B3F3-2C28F0DB38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251" name="Freeform 5">
              <a:extLst>
                <a:ext uri="{FF2B5EF4-FFF2-40B4-BE49-F238E27FC236}">
                  <a16:creationId xmlns:a16="http://schemas.microsoft.com/office/drawing/2014/main" id="{C889A47C-D4C0-4050-9FD7-C6E68BB2A1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2" name="Freeform 6">
              <a:extLst>
                <a:ext uri="{FF2B5EF4-FFF2-40B4-BE49-F238E27FC236}">
                  <a16:creationId xmlns:a16="http://schemas.microsoft.com/office/drawing/2014/main" id="{196A917C-4FB7-4EE0-B2AF-5B424C9213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3" name="Freeform 7">
              <a:extLst>
                <a:ext uri="{FF2B5EF4-FFF2-40B4-BE49-F238E27FC236}">
                  <a16:creationId xmlns:a16="http://schemas.microsoft.com/office/drawing/2014/main" id="{AD042BA0-4DD8-41BC-8B1B-82E7C21B50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4" name="Freeform 8">
              <a:extLst>
                <a:ext uri="{FF2B5EF4-FFF2-40B4-BE49-F238E27FC236}">
                  <a16:creationId xmlns:a16="http://schemas.microsoft.com/office/drawing/2014/main" id="{8B5FD66D-A2C4-4D2F-A79D-F9A85F1E75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5" name="Freeform 9">
              <a:extLst>
                <a:ext uri="{FF2B5EF4-FFF2-40B4-BE49-F238E27FC236}">
                  <a16:creationId xmlns:a16="http://schemas.microsoft.com/office/drawing/2014/main" id="{D81BA58D-9E68-4371-96FD-F7FA84B86C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6" name="Freeform 10">
              <a:extLst>
                <a:ext uri="{FF2B5EF4-FFF2-40B4-BE49-F238E27FC236}">
                  <a16:creationId xmlns:a16="http://schemas.microsoft.com/office/drawing/2014/main" id="{B945C143-4385-4ECD-AEC8-E2B950C085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Freeform 11">
              <a:extLst>
                <a:ext uri="{FF2B5EF4-FFF2-40B4-BE49-F238E27FC236}">
                  <a16:creationId xmlns:a16="http://schemas.microsoft.com/office/drawing/2014/main" id="{E47EA07A-986C-4416-8274-40317A00B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8" name="Freeform 12">
              <a:extLst>
                <a:ext uri="{FF2B5EF4-FFF2-40B4-BE49-F238E27FC236}">
                  <a16:creationId xmlns:a16="http://schemas.microsoft.com/office/drawing/2014/main" id="{5DF9F493-715E-4E94-BC84-2D3AAED6A3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13">
              <a:extLst>
                <a:ext uri="{FF2B5EF4-FFF2-40B4-BE49-F238E27FC236}">
                  <a16:creationId xmlns:a16="http://schemas.microsoft.com/office/drawing/2014/main" id="{EC1E6687-33C1-4307-80DD-B44908DB30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14">
              <a:extLst>
                <a:ext uri="{FF2B5EF4-FFF2-40B4-BE49-F238E27FC236}">
                  <a16:creationId xmlns:a16="http://schemas.microsoft.com/office/drawing/2014/main" id="{BA9831A9-B617-427A-BDC1-D2C0DFD035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Freeform 15">
              <a:extLst>
                <a:ext uri="{FF2B5EF4-FFF2-40B4-BE49-F238E27FC236}">
                  <a16:creationId xmlns:a16="http://schemas.microsoft.com/office/drawing/2014/main" id="{F861664D-E779-4577-9079-2A51591457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0F5BBF32-13D4-43E4-A8B1-D6EF59586F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3" name="Freeform 17">
              <a:extLst>
                <a:ext uri="{FF2B5EF4-FFF2-40B4-BE49-F238E27FC236}">
                  <a16:creationId xmlns:a16="http://schemas.microsoft.com/office/drawing/2014/main" id="{EE320952-217D-46F1-9268-CA37990B8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4" name="Freeform 18">
              <a:extLst>
                <a:ext uri="{FF2B5EF4-FFF2-40B4-BE49-F238E27FC236}">
                  <a16:creationId xmlns:a16="http://schemas.microsoft.com/office/drawing/2014/main" id="{F3932B73-1A86-4337-8615-5F7BCC061F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19">
              <a:extLst>
                <a:ext uri="{FF2B5EF4-FFF2-40B4-BE49-F238E27FC236}">
                  <a16:creationId xmlns:a16="http://schemas.microsoft.com/office/drawing/2014/main" id="{CF4D47F6-8F19-461F-BC0F-462182EC11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Freeform 20">
              <a:extLst>
                <a:ext uri="{FF2B5EF4-FFF2-40B4-BE49-F238E27FC236}">
                  <a16:creationId xmlns:a16="http://schemas.microsoft.com/office/drawing/2014/main" id="{8E7FF1EC-DD12-49F9-AF1B-8DA881C24C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7" name="Freeform 21">
              <a:extLst>
                <a:ext uri="{FF2B5EF4-FFF2-40B4-BE49-F238E27FC236}">
                  <a16:creationId xmlns:a16="http://schemas.microsoft.com/office/drawing/2014/main" id="{0F80CCAF-5784-404C-8A6C-39854025A8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8" name="Freeform 22">
              <a:extLst>
                <a:ext uri="{FF2B5EF4-FFF2-40B4-BE49-F238E27FC236}">
                  <a16:creationId xmlns:a16="http://schemas.microsoft.com/office/drawing/2014/main" id="{DB9609D2-E1D2-4E95-920F-6B1D45B2A2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
              <a:extLst>
                <a:ext uri="{FF2B5EF4-FFF2-40B4-BE49-F238E27FC236}">
                  <a16:creationId xmlns:a16="http://schemas.microsoft.com/office/drawing/2014/main" id="{F2EEBF02-66CE-459B-8536-D7C4D498CB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6" name="Picture 5">
            <a:extLst>
              <a:ext uri="{FF2B5EF4-FFF2-40B4-BE49-F238E27FC236}">
                <a16:creationId xmlns:a16="http://schemas.microsoft.com/office/drawing/2014/main" id="{B73E6C62-D491-10FF-CBDA-44DE65B7668F}"/>
              </a:ext>
            </a:extLst>
          </p:cNvPr>
          <p:cNvPicPr>
            <a:picLocks noChangeAspect="1"/>
          </p:cNvPicPr>
          <p:nvPr/>
        </p:nvPicPr>
        <p:blipFill>
          <a:blip r:embed="rId3"/>
          <a:srcRect r="-1" b="33066"/>
          <a:stretch>
            <a:fillRect/>
          </a:stretch>
        </p:blipFill>
        <p:spPr>
          <a:xfrm>
            <a:off x="1" y="10"/>
            <a:ext cx="12191695" cy="4120995"/>
          </a:xfrm>
          <a:prstGeom prst="rect">
            <a:avLst/>
          </a:prstGeom>
          <a:ln w="12700">
            <a:noFill/>
          </a:ln>
        </p:spPr>
      </p:pic>
      <p:grpSp>
        <p:nvGrpSpPr>
          <p:cNvPr id="319" name="Group 318">
            <a:extLst>
              <a:ext uri="{FF2B5EF4-FFF2-40B4-BE49-F238E27FC236}">
                <a16:creationId xmlns:a16="http://schemas.microsoft.com/office/drawing/2014/main" id="{DEDA27B9-3726-4A21-8FF8-A3B93EAA28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320" name="Isosceles Triangle 39">
              <a:extLst>
                <a:ext uri="{FF2B5EF4-FFF2-40B4-BE49-F238E27FC236}">
                  <a16:creationId xmlns:a16="http://schemas.microsoft.com/office/drawing/2014/main" id="{E1E5536E-2CC6-444C-A432-731D58F0B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28AA722D-8306-4F4C-A2CB-382699312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3E1BBF5-5A32-B14B-D1FD-3C0E5559D352}"/>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2800"/>
              <a:t>USERS WITH TOP ENGAGEMENT RATES IN LIKES AND COMMENTS</a:t>
            </a:r>
          </a:p>
        </p:txBody>
      </p:sp>
    </p:spTree>
    <p:extLst>
      <p:ext uri="{BB962C8B-B14F-4D97-AF65-F5344CB8AC3E}">
        <p14:creationId xmlns:p14="http://schemas.microsoft.com/office/powerpoint/2010/main" val="282425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F762-95F2-F072-98FD-9184F9BDF5F2}"/>
              </a:ext>
            </a:extLst>
          </p:cNvPr>
          <p:cNvSpPr>
            <a:spLocks noGrp="1"/>
          </p:cNvSpPr>
          <p:nvPr>
            <p:ph type="title"/>
          </p:nvPr>
        </p:nvSpPr>
        <p:spPr/>
        <p:txBody>
          <a:bodyPr/>
          <a:lstStyle/>
          <a:p>
            <a:r>
              <a:rPr lang="en-IN" dirty="0"/>
              <a:t>OBSERVATION</a:t>
            </a:r>
          </a:p>
        </p:txBody>
      </p:sp>
      <p:sp>
        <p:nvSpPr>
          <p:cNvPr id="3" name="Content Placeholder 2">
            <a:extLst>
              <a:ext uri="{FF2B5EF4-FFF2-40B4-BE49-F238E27FC236}">
                <a16:creationId xmlns:a16="http://schemas.microsoft.com/office/drawing/2014/main" id="{A25A9837-309E-CC27-B0C1-7B11550C70CE}"/>
              </a:ext>
            </a:extLst>
          </p:cNvPr>
          <p:cNvSpPr>
            <a:spLocks noGrp="1"/>
          </p:cNvSpPr>
          <p:nvPr>
            <p:ph idx="1"/>
          </p:nvPr>
        </p:nvSpPr>
        <p:spPr>
          <a:xfrm>
            <a:off x="4637314" y="914400"/>
            <a:ext cx="7326085" cy="5671456"/>
          </a:xfrm>
        </p:spPr>
        <p:txBody>
          <a:bodyPr>
            <a:normAutofit/>
          </a:bodyPr>
          <a:lstStyle/>
          <a:p>
            <a:r>
              <a:rPr lang="en-US" b="1" dirty="0"/>
              <a:t>Quality beats quantity</a:t>
            </a:r>
            <a:r>
              <a:rPr lang="en-US" dirty="0"/>
              <a:t>: Fewer, well-crafted posts often drive higher engagement than frequent posting.</a:t>
            </a:r>
          </a:p>
          <a:p>
            <a:r>
              <a:rPr lang="en-US" b="1" dirty="0"/>
              <a:t>Micro-influencers win per post</a:t>
            </a:r>
            <a:r>
              <a:rPr lang="en-US" dirty="0"/>
              <a:t>: Users with moderate followers generate stronger engagement due to loyal, niche audiences.</a:t>
            </a:r>
          </a:p>
          <a:p>
            <a:r>
              <a:rPr lang="en-US" b="1" dirty="0"/>
              <a:t>Comments matter most</a:t>
            </a:r>
            <a:r>
              <a:rPr lang="en-US" dirty="0"/>
              <a:t>: Posts with more comments rank higher in engagement, as comments signal deeper, two-way interaction.</a:t>
            </a:r>
          </a:p>
          <a:p>
            <a:pPr marL="0" indent="0">
              <a:buNone/>
            </a:pPr>
            <a:endParaRPr lang="en-US" dirty="0"/>
          </a:p>
        </p:txBody>
      </p:sp>
    </p:spTree>
    <p:extLst>
      <p:ext uri="{BB962C8B-B14F-4D97-AF65-F5344CB8AC3E}">
        <p14:creationId xmlns:p14="http://schemas.microsoft.com/office/powerpoint/2010/main" val="338727898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7" name="Group 116">
            <a:extLst>
              <a:ext uri="{FF2B5EF4-FFF2-40B4-BE49-F238E27FC236}">
                <a16:creationId xmlns:a16="http://schemas.microsoft.com/office/drawing/2014/main" id="{E024D248-87CA-4666-BB50-B93BF1A6FB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 name="Freeform 5">
              <a:extLst>
                <a:ext uri="{FF2B5EF4-FFF2-40B4-BE49-F238E27FC236}">
                  <a16:creationId xmlns:a16="http://schemas.microsoft.com/office/drawing/2014/main" id="{81446A0E-C360-4370-A384-224EF4B9D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375CF781-ABBD-4539-AE85-B013EDD7E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F3350EF4-E7A6-48D2-8B21-9DD8F1CB9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1F517A69-FE01-464B-9A05-3499576A9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AADC7005-409B-4A18-ABD2-3BC40B989A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E7E7D4D7-F6DE-4530-876A-7AF7ED9332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4FD811BB-DC05-49BD-934D-C52A0455B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328F383D-072B-4F56-8238-83F7F524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2F3E6887-3D62-47E0-BF7E-80A33A3EA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0F932455-2E90-40F2-914E-CB4D46E56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9CE34E18-538E-4FBE-A20F-A3F830A6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7D614BDF-54BD-46C3-85E5-96EE7B68B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0C98C1F4-37D1-4C8C-B86F-C8F65A3C4D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4C38DF64-C855-4E1D-9327-5444A4E86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0E27D78D-BB9D-4B2A-8583-B4B2E14FB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FD78ECA6-F850-4BA2-AD0A-E32F2C97F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86717E14-EE6A-4BA3-B519-F0E6220BB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82CDDB7E-90AB-4368-AED4-F2904A31A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56B060D4-4D56-4ABD-B495-528477EEA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18" name="Group 117">
            <a:extLst>
              <a:ext uri="{FF2B5EF4-FFF2-40B4-BE49-F238E27FC236}">
                <a16:creationId xmlns:a16="http://schemas.microsoft.com/office/drawing/2014/main" id="{38BE3980-E33C-47F5-9C30-74FF864BE1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3" name="Rectangle 32">
              <a:extLst>
                <a:ext uri="{FF2B5EF4-FFF2-40B4-BE49-F238E27FC236}">
                  <a16:creationId xmlns:a16="http://schemas.microsoft.com/office/drawing/2014/main" id="{75B0C41B-5860-492D-A229-2AD0EB47B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58FED3E4-0FF2-4D7C-8C6E-F8DA2ED001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524D354D-03E8-4B3C-AE46-3134F3D1B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119" name="Rectangle 118">
            <a:extLst>
              <a:ext uri="{FF2B5EF4-FFF2-40B4-BE49-F238E27FC236}">
                <a16:creationId xmlns:a16="http://schemas.microsoft.com/office/drawing/2014/main" id="{F199CFFE-DA0E-4054-A98E-637FEB1FA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119">
            <a:extLst>
              <a:ext uri="{FF2B5EF4-FFF2-40B4-BE49-F238E27FC236}">
                <a16:creationId xmlns:a16="http://schemas.microsoft.com/office/drawing/2014/main" id="{79B720E2-8A02-4886-B3F3-2C28F0DB38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1" name="Freeform 5">
              <a:extLst>
                <a:ext uri="{FF2B5EF4-FFF2-40B4-BE49-F238E27FC236}">
                  <a16:creationId xmlns:a16="http://schemas.microsoft.com/office/drawing/2014/main" id="{C889A47C-D4C0-4050-9FD7-C6E68BB2A1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6">
              <a:extLst>
                <a:ext uri="{FF2B5EF4-FFF2-40B4-BE49-F238E27FC236}">
                  <a16:creationId xmlns:a16="http://schemas.microsoft.com/office/drawing/2014/main" id="{196A917C-4FB7-4EE0-B2AF-5B424C9213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7">
              <a:extLst>
                <a:ext uri="{FF2B5EF4-FFF2-40B4-BE49-F238E27FC236}">
                  <a16:creationId xmlns:a16="http://schemas.microsoft.com/office/drawing/2014/main" id="{AD042BA0-4DD8-41BC-8B1B-82E7C21B50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8">
              <a:extLst>
                <a:ext uri="{FF2B5EF4-FFF2-40B4-BE49-F238E27FC236}">
                  <a16:creationId xmlns:a16="http://schemas.microsoft.com/office/drawing/2014/main" id="{8B5FD66D-A2C4-4D2F-A79D-F9A85F1E75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Freeform 9">
              <a:extLst>
                <a:ext uri="{FF2B5EF4-FFF2-40B4-BE49-F238E27FC236}">
                  <a16:creationId xmlns:a16="http://schemas.microsoft.com/office/drawing/2014/main" id="{D81BA58D-9E68-4371-96FD-F7FA84B86C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Freeform 10">
              <a:extLst>
                <a:ext uri="{FF2B5EF4-FFF2-40B4-BE49-F238E27FC236}">
                  <a16:creationId xmlns:a16="http://schemas.microsoft.com/office/drawing/2014/main" id="{B945C143-4385-4ECD-AEC8-E2B950C085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Freeform 11">
              <a:extLst>
                <a:ext uri="{FF2B5EF4-FFF2-40B4-BE49-F238E27FC236}">
                  <a16:creationId xmlns:a16="http://schemas.microsoft.com/office/drawing/2014/main" id="{E47EA07A-986C-4416-8274-40317A00B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12">
              <a:extLst>
                <a:ext uri="{FF2B5EF4-FFF2-40B4-BE49-F238E27FC236}">
                  <a16:creationId xmlns:a16="http://schemas.microsoft.com/office/drawing/2014/main" id="{5DF9F493-715E-4E94-BC84-2D3AAED6A3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13">
              <a:extLst>
                <a:ext uri="{FF2B5EF4-FFF2-40B4-BE49-F238E27FC236}">
                  <a16:creationId xmlns:a16="http://schemas.microsoft.com/office/drawing/2014/main" id="{EC1E6687-33C1-4307-80DD-B44908DB30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14">
              <a:extLst>
                <a:ext uri="{FF2B5EF4-FFF2-40B4-BE49-F238E27FC236}">
                  <a16:creationId xmlns:a16="http://schemas.microsoft.com/office/drawing/2014/main" id="{BA9831A9-B617-427A-BDC1-D2C0DFD035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15">
              <a:extLst>
                <a:ext uri="{FF2B5EF4-FFF2-40B4-BE49-F238E27FC236}">
                  <a16:creationId xmlns:a16="http://schemas.microsoft.com/office/drawing/2014/main" id="{F861664D-E779-4577-9079-2A51591457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0F5BBF32-13D4-43E4-A8B1-D6EF59586F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17">
              <a:extLst>
                <a:ext uri="{FF2B5EF4-FFF2-40B4-BE49-F238E27FC236}">
                  <a16:creationId xmlns:a16="http://schemas.microsoft.com/office/drawing/2014/main" id="{EE320952-217D-46F1-9268-CA37990B8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18">
              <a:extLst>
                <a:ext uri="{FF2B5EF4-FFF2-40B4-BE49-F238E27FC236}">
                  <a16:creationId xmlns:a16="http://schemas.microsoft.com/office/drawing/2014/main" id="{F3932B73-1A86-4337-8615-5F7BCC061F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19">
              <a:extLst>
                <a:ext uri="{FF2B5EF4-FFF2-40B4-BE49-F238E27FC236}">
                  <a16:creationId xmlns:a16="http://schemas.microsoft.com/office/drawing/2014/main" id="{CF4D47F6-8F19-461F-BC0F-462182EC11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0">
              <a:extLst>
                <a:ext uri="{FF2B5EF4-FFF2-40B4-BE49-F238E27FC236}">
                  <a16:creationId xmlns:a16="http://schemas.microsoft.com/office/drawing/2014/main" id="{8E7FF1EC-DD12-49F9-AF1B-8DA881C24C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7" name="Freeform 21">
              <a:extLst>
                <a:ext uri="{FF2B5EF4-FFF2-40B4-BE49-F238E27FC236}">
                  <a16:creationId xmlns:a16="http://schemas.microsoft.com/office/drawing/2014/main" id="{0F80CCAF-5784-404C-8A6C-39854025A8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Freeform 22">
              <a:extLst>
                <a:ext uri="{FF2B5EF4-FFF2-40B4-BE49-F238E27FC236}">
                  <a16:creationId xmlns:a16="http://schemas.microsoft.com/office/drawing/2014/main" id="{DB9609D2-E1D2-4E95-920F-6B1D45B2A2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9" name="Freeform 23">
              <a:extLst>
                <a:ext uri="{FF2B5EF4-FFF2-40B4-BE49-F238E27FC236}">
                  <a16:creationId xmlns:a16="http://schemas.microsoft.com/office/drawing/2014/main" id="{F2EEBF02-66CE-459B-8536-D7C4D498CB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6" name="Picture 5">
            <a:extLst>
              <a:ext uri="{FF2B5EF4-FFF2-40B4-BE49-F238E27FC236}">
                <a16:creationId xmlns:a16="http://schemas.microsoft.com/office/drawing/2014/main" id="{18267B08-BC9A-DDBE-DDA1-2EA0790DA594}"/>
              </a:ext>
            </a:extLst>
          </p:cNvPr>
          <p:cNvPicPr>
            <a:picLocks noChangeAspect="1"/>
          </p:cNvPicPr>
          <p:nvPr/>
        </p:nvPicPr>
        <p:blipFill>
          <a:blip r:embed="rId2"/>
          <a:srcRect t="20079" r="-1" b="23584"/>
          <a:stretch>
            <a:fillRect/>
          </a:stretch>
        </p:blipFill>
        <p:spPr>
          <a:xfrm>
            <a:off x="1" y="10"/>
            <a:ext cx="12191695" cy="4120995"/>
          </a:xfrm>
          <a:prstGeom prst="rect">
            <a:avLst/>
          </a:prstGeom>
          <a:ln w="12700">
            <a:noFill/>
          </a:ln>
        </p:spPr>
      </p:pic>
      <p:grpSp>
        <p:nvGrpSpPr>
          <p:cNvPr id="140" name="Group 139">
            <a:extLst>
              <a:ext uri="{FF2B5EF4-FFF2-40B4-BE49-F238E27FC236}">
                <a16:creationId xmlns:a16="http://schemas.microsoft.com/office/drawing/2014/main" id="{DEDA27B9-3726-4A21-8FF8-A3B93EAA28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141" name="Isosceles Triangle 39">
              <a:extLst>
                <a:ext uri="{FF2B5EF4-FFF2-40B4-BE49-F238E27FC236}">
                  <a16:creationId xmlns:a16="http://schemas.microsoft.com/office/drawing/2014/main" id="{E1E5536E-2CC6-444C-A432-731D58F0B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28AA722D-8306-4F4C-A2CB-382699312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B833F3B-F6B9-4813-8B55-BA4F5EDF9A96}"/>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3700"/>
              <a:t>TAG WISE ENGAGEMENT RATE</a:t>
            </a:r>
          </a:p>
        </p:txBody>
      </p:sp>
    </p:spTree>
    <p:extLst>
      <p:ext uri="{BB962C8B-B14F-4D97-AF65-F5344CB8AC3E}">
        <p14:creationId xmlns:p14="http://schemas.microsoft.com/office/powerpoint/2010/main" val="70827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1A92-717C-4325-6BD3-21DB7BF4FED3}"/>
              </a:ext>
            </a:extLst>
          </p:cNvPr>
          <p:cNvSpPr>
            <a:spLocks noGrp="1"/>
          </p:cNvSpPr>
          <p:nvPr>
            <p:ph type="title"/>
          </p:nvPr>
        </p:nvSpPr>
        <p:spPr>
          <a:xfrm>
            <a:off x="660031" y="2339039"/>
            <a:ext cx="3890198" cy="2456442"/>
          </a:xfrm>
        </p:spPr>
        <p:txBody>
          <a:bodyPr>
            <a:normAutofit fontScale="90000"/>
          </a:bodyPr>
          <a:lstStyle/>
          <a:p>
            <a:r>
              <a:rPr lang="en-IN" dirty="0"/>
              <a:t>INSIGHTS REGARTING HASHTAG &amp; TOPIC ENGAGEMENT</a:t>
            </a:r>
          </a:p>
        </p:txBody>
      </p:sp>
      <p:sp>
        <p:nvSpPr>
          <p:cNvPr id="3" name="Content Placeholder 2">
            <a:extLst>
              <a:ext uri="{FF2B5EF4-FFF2-40B4-BE49-F238E27FC236}">
                <a16:creationId xmlns:a16="http://schemas.microsoft.com/office/drawing/2014/main" id="{BD4EFA1F-59C0-052E-498F-0B02FAB64A29}"/>
              </a:ext>
            </a:extLst>
          </p:cNvPr>
          <p:cNvSpPr>
            <a:spLocks noGrp="1"/>
          </p:cNvSpPr>
          <p:nvPr>
            <p:ph idx="1"/>
          </p:nvPr>
        </p:nvSpPr>
        <p:spPr>
          <a:xfrm>
            <a:off x="4922504" y="293914"/>
            <a:ext cx="6812296" cy="6191896"/>
          </a:xfrm>
        </p:spPr>
        <p:txBody>
          <a:bodyPr>
            <a:normAutofit/>
          </a:bodyPr>
          <a:lstStyle/>
          <a:p>
            <a:r>
              <a:rPr lang="en-US" b="1" dirty="0"/>
              <a:t>Trend-aligned hashtags</a:t>
            </a:r>
            <a:r>
              <a:rPr lang="en-US" dirty="0"/>
              <a:t> perform best: Niche, trend-specific hashtags drive higher engagement than broad, generic tags.</a:t>
            </a:r>
          </a:p>
          <a:p>
            <a:r>
              <a:rPr lang="en-US" b="1" dirty="0"/>
              <a:t>Emotional topics</a:t>
            </a:r>
            <a:r>
              <a:rPr lang="en-US" dirty="0"/>
              <a:t> spark interaction: Relatable and inspirational themes generate more comments and shares, not just likes.</a:t>
            </a:r>
          </a:p>
          <a:p>
            <a:r>
              <a:rPr lang="en-US" b="1" dirty="0"/>
              <a:t>Visual topics</a:t>
            </a:r>
            <a:r>
              <a:rPr lang="en-US" dirty="0"/>
              <a:t> boost visibility: Travel, food, fashion, and art consistently earn higher likes due to strong visual appeal.</a:t>
            </a:r>
          </a:p>
        </p:txBody>
      </p:sp>
    </p:spTree>
    <p:extLst>
      <p:ext uri="{BB962C8B-B14F-4D97-AF65-F5344CB8AC3E}">
        <p14:creationId xmlns:p14="http://schemas.microsoft.com/office/powerpoint/2010/main" val="793932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0711-4C85-A100-FC80-21D342D9C689}"/>
              </a:ext>
            </a:extLst>
          </p:cNvPr>
          <p:cNvSpPr>
            <a:spLocks noGrp="1"/>
          </p:cNvSpPr>
          <p:nvPr>
            <p:ph type="title"/>
          </p:nvPr>
        </p:nvSpPr>
        <p:spPr/>
        <p:txBody>
          <a:bodyPr>
            <a:normAutofit/>
          </a:bodyPr>
          <a:lstStyle/>
          <a:p>
            <a:r>
              <a:rPr lang="en-IN" sz="2800" dirty="0"/>
              <a:t>RECOMMENDATIONS</a:t>
            </a:r>
          </a:p>
        </p:txBody>
      </p:sp>
      <p:sp>
        <p:nvSpPr>
          <p:cNvPr id="3" name="Content Placeholder 2">
            <a:extLst>
              <a:ext uri="{FF2B5EF4-FFF2-40B4-BE49-F238E27FC236}">
                <a16:creationId xmlns:a16="http://schemas.microsoft.com/office/drawing/2014/main" id="{15F7C1F4-3B62-637C-AEC2-C4D3B225EA8B}"/>
              </a:ext>
            </a:extLst>
          </p:cNvPr>
          <p:cNvSpPr>
            <a:spLocks noGrp="1"/>
          </p:cNvSpPr>
          <p:nvPr>
            <p:ph idx="1"/>
          </p:nvPr>
        </p:nvSpPr>
        <p:spPr>
          <a:xfrm>
            <a:off x="4865915" y="326571"/>
            <a:ext cx="6934200" cy="6368143"/>
          </a:xfrm>
        </p:spPr>
        <p:txBody>
          <a:bodyPr>
            <a:normAutofit/>
          </a:bodyPr>
          <a:lstStyle/>
          <a:p>
            <a:pPr>
              <a:buFont typeface="Arial" panose="020B0604020202020204" pitchFamily="34" charset="0"/>
              <a:buChar char="•"/>
            </a:pPr>
            <a:r>
              <a:rPr lang="en-US" b="1" dirty="0"/>
              <a:t>Optimize hashtags</a:t>
            </a:r>
            <a:r>
              <a:rPr lang="en-US" dirty="0"/>
              <a:t>: Use a balanced mix of trending, high-engagement, and niche hashtags; avoid generic tags.</a:t>
            </a:r>
          </a:p>
          <a:p>
            <a:pPr>
              <a:buFont typeface="Arial" panose="020B0604020202020204" pitchFamily="34" charset="0"/>
              <a:buChar char="•"/>
            </a:pPr>
            <a:r>
              <a:rPr lang="en-US" b="1" dirty="0"/>
              <a:t>Build ads on proven topics</a:t>
            </a:r>
            <a:r>
              <a:rPr lang="en-US" dirty="0"/>
              <a:t>: Align creatives with data-backed, high-performing themes to stay native and relevant.</a:t>
            </a:r>
          </a:p>
          <a:p>
            <a:pPr>
              <a:buFont typeface="Arial" panose="020B0604020202020204" pitchFamily="34" charset="0"/>
              <a:buChar char="•"/>
            </a:pPr>
            <a:r>
              <a:rPr lang="en-US" b="1" dirty="0"/>
              <a:t>Partner with niche influencers</a:t>
            </a:r>
            <a:r>
              <a:rPr lang="en-US" dirty="0"/>
              <a:t>: Collaborate with creators who drive loyal, interactive audiences for higher authenticity.</a:t>
            </a:r>
          </a:p>
          <a:p>
            <a:pPr>
              <a:buNone/>
            </a:pPr>
            <a:r>
              <a:rPr lang="en-US" b="1" dirty="0"/>
              <a:t>Strategic Impact</a:t>
            </a:r>
            <a:endParaRPr lang="en-US" dirty="0"/>
          </a:p>
          <a:p>
            <a:pPr>
              <a:buFont typeface="Arial" panose="020B0604020202020204" pitchFamily="34" charset="0"/>
              <a:buChar char="•"/>
            </a:pPr>
            <a:r>
              <a:rPr lang="en-US" dirty="0"/>
              <a:t>📈 Higher engagement &amp; discoverability</a:t>
            </a:r>
          </a:p>
          <a:p>
            <a:pPr>
              <a:buFont typeface="Arial" panose="020B0604020202020204" pitchFamily="34" charset="0"/>
              <a:buChar char="•"/>
            </a:pPr>
            <a:r>
              <a:rPr lang="en-US" dirty="0"/>
              <a:t>🎯 Improved ad relevance &amp; conversions</a:t>
            </a:r>
          </a:p>
          <a:p>
            <a:pPr>
              <a:buFont typeface="Arial" panose="020B0604020202020204" pitchFamily="34" charset="0"/>
              <a:buChar char="•"/>
            </a:pPr>
            <a:r>
              <a:rPr lang="en-US" dirty="0"/>
              <a:t>🤝 Stronger creator–brand partnerships</a:t>
            </a:r>
          </a:p>
          <a:p>
            <a:pPr marL="0" indent="0">
              <a:buNone/>
            </a:pPr>
            <a:endParaRPr lang="en-US" sz="1600" dirty="0"/>
          </a:p>
        </p:txBody>
      </p:sp>
    </p:spTree>
    <p:extLst>
      <p:ext uri="{BB962C8B-B14F-4D97-AF65-F5344CB8AC3E}">
        <p14:creationId xmlns:p14="http://schemas.microsoft.com/office/powerpoint/2010/main" val="1350954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D307D92-1B71-4BC9-9CC2-651007D6D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 name="Freeform 5">
              <a:extLst>
                <a:ext uri="{FF2B5EF4-FFF2-40B4-BE49-F238E27FC236}">
                  <a16:creationId xmlns:a16="http://schemas.microsoft.com/office/drawing/2014/main" id="{48196BD5-3A8F-445C-A9AA-33D58149E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1C2BF9A0-70E8-4B69-B595-6C41397CE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D0AFFCFA-812A-4008-8BF5-127D5BB98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6ED7D059-83CD-4EB3-A772-258EB194F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98E9E256-EEDD-487F-8632-7432586E4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76D41A89-1E68-4BD6-9327-A391D7665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0F11C82B-ADCC-489C-88F0-EE6588C70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807C586E-736E-422E-BC3F-ED6D7FA1F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5BCF04A8-F3B9-47D5-90A6-C8DA83C50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702A10B2-AA9E-4570-89ED-37FAE4C9F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F84C29AD-CE3F-457D-8238-121D253A3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A1AADEF1-B8D9-4938-95AA-254872524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400E0898-75B4-4F1D-B6D2-8476FD5EB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82D9A2F9-88A3-4616-B7E5-A6F21C3F2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8DD3B396-47ED-4E9F-83FA-9A87C0CB0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016E5F4B-2563-48BB-9F60-DE80D3A58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C9D6A696-56F1-4BFC-B69C-25447A36E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BA5CF3E5-184E-4CD8-87F9-BB43775260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FE1BA3B9-9135-4961-B757-431F0E420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 name="Group 31">
            <a:extLst>
              <a:ext uri="{FF2B5EF4-FFF2-40B4-BE49-F238E27FC236}">
                <a16:creationId xmlns:a16="http://schemas.microsoft.com/office/drawing/2014/main" id="{7A654156-2BF2-421C-9490-638BE71622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3" name="Rectangle 32">
              <a:extLst>
                <a:ext uri="{FF2B5EF4-FFF2-40B4-BE49-F238E27FC236}">
                  <a16:creationId xmlns:a16="http://schemas.microsoft.com/office/drawing/2014/main" id="{ED8293CB-81CE-4792-A100-92743F37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6044959-7644-4A92-935A-FDDBF623C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0BC61B04-3622-4BB4-A18A-59CEA86A6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37" name="Rectangle 36">
            <a:extLst>
              <a:ext uri="{FF2B5EF4-FFF2-40B4-BE49-F238E27FC236}">
                <a16:creationId xmlns:a16="http://schemas.microsoft.com/office/drawing/2014/main" id="{D7861870-6A8E-4DDD-8DE2-909CFFBD3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0E655274-3DE0-4DF9-B537-2873BEFDF0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0" name="Freeform 5">
              <a:extLst>
                <a:ext uri="{FF2B5EF4-FFF2-40B4-BE49-F238E27FC236}">
                  <a16:creationId xmlns:a16="http://schemas.microsoft.com/office/drawing/2014/main" id="{D4104E89-104E-4E65-A693-631F4C5CE3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6">
              <a:extLst>
                <a:ext uri="{FF2B5EF4-FFF2-40B4-BE49-F238E27FC236}">
                  <a16:creationId xmlns:a16="http://schemas.microsoft.com/office/drawing/2014/main" id="{316FE7D7-6A79-408F-B27B-D378EEE18B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7">
              <a:extLst>
                <a:ext uri="{FF2B5EF4-FFF2-40B4-BE49-F238E27FC236}">
                  <a16:creationId xmlns:a16="http://schemas.microsoft.com/office/drawing/2014/main" id="{EE9DAE2E-0289-4FB3-8A69-DAA0A0AA0B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8">
              <a:extLst>
                <a:ext uri="{FF2B5EF4-FFF2-40B4-BE49-F238E27FC236}">
                  <a16:creationId xmlns:a16="http://schemas.microsoft.com/office/drawing/2014/main" id="{C36BB373-6326-44F1-9B44-4E55C4BC86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9">
              <a:extLst>
                <a:ext uri="{FF2B5EF4-FFF2-40B4-BE49-F238E27FC236}">
                  <a16:creationId xmlns:a16="http://schemas.microsoft.com/office/drawing/2014/main" id="{58135F52-5291-4CC9-AFD8-9AE4683D13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10">
              <a:extLst>
                <a:ext uri="{FF2B5EF4-FFF2-40B4-BE49-F238E27FC236}">
                  <a16:creationId xmlns:a16="http://schemas.microsoft.com/office/drawing/2014/main" id="{0495AD22-9F0C-4EED-B895-9227C795A1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11">
              <a:extLst>
                <a:ext uri="{FF2B5EF4-FFF2-40B4-BE49-F238E27FC236}">
                  <a16:creationId xmlns:a16="http://schemas.microsoft.com/office/drawing/2014/main" id="{ACAD2097-745B-4FED-BBF3-D3BEF41D30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12">
              <a:extLst>
                <a:ext uri="{FF2B5EF4-FFF2-40B4-BE49-F238E27FC236}">
                  <a16:creationId xmlns:a16="http://schemas.microsoft.com/office/drawing/2014/main" id="{8B6FD381-B092-46F4-9195-DFCD2AE746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13">
              <a:extLst>
                <a:ext uri="{FF2B5EF4-FFF2-40B4-BE49-F238E27FC236}">
                  <a16:creationId xmlns:a16="http://schemas.microsoft.com/office/drawing/2014/main" id="{5F8C46B0-088A-4D98-B589-25426A3235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14">
              <a:extLst>
                <a:ext uri="{FF2B5EF4-FFF2-40B4-BE49-F238E27FC236}">
                  <a16:creationId xmlns:a16="http://schemas.microsoft.com/office/drawing/2014/main" id="{6E553E74-B64A-44B3-9446-E346D53E1F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15">
              <a:extLst>
                <a:ext uri="{FF2B5EF4-FFF2-40B4-BE49-F238E27FC236}">
                  <a16:creationId xmlns:a16="http://schemas.microsoft.com/office/drawing/2014/main" id="{CCD9A238-C92A-41FA-B4F6-8604FE5F24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D6E90D44-18A2-4216-BBD5-B3E059EA75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17">
              <a:extLst>
                <a:ext uri="{FF2B5EF4-FFF2-40B4-BE49-F238E27FC236}">
                  <a16:creationId xmlns:a16="http://schemas.microsoft.com/office/drawing/2014/main" id="{EC7138BA-DA37-4EB0-88F0-1913445974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18">
              <a:extLst>
                <a:ext uri="{FF2B5EF4-FFF2-40B4-BE49-F238E27FC236}">
                  <a16:creationId xmlns:a16="http://schemas.microsoft.com/office/drawing/2014/main" id="{F05CB203-4AC6-46EE-9A10-6CFB1B443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19">
              <a:extLst>
                <a:ext uri="{FF2B5EF4-FFF2-40B4-BE49-F238E27FC236}">
                  <a16:creationId xmlns:a16="http://schemas.microsoft.com/office/drawing/2014/main" id="{A1045457-59FA-436A-8C16-79A07605DE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a:extLst>
                <a:ext uri="{FF2B5EF4-FFF2-40B4-BE49-F238E27FC236}">
                  <a16:creationId xmlns:a16="http://schemas.microsoft.com/office/drawing/2014/main" id="{28EAE40C-5126-4E1A-BB3B-1834EC8904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21">
              <a:extLst>
                <a:ext uri="{FF2B5EF4-FFF2-40B4-BE49-F238E27FC236}">
                  <a16:creationId xmlns:a16="http://schemas.microsoft.com/office/drawing/2014/main" id="{380F3822-ADB8-46D8-8528-B946CA2274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22">
              <a:extLst>
                <a:ext uri="{FF2B5EF4-FFF2-40B4-BE49-F238E27FC236}">
                  <a16:creationId xmlns:a16="http://schemas.microsoft.com/office/drawing/2014/main" id="{C7F31617-527F-483F-95EA-DBA880C2AF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23">
              <a:extLst>
                <a:ext uri="{FF2B5EF4-FFF2-40B4-BE49-F238E27FC236}">
                  <a16:creationId xmlns:a16="http://schemas.microsoft.com/office/drawing/2014/main" id="{B3359A7F-3190-4775-8064-02D289FA52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0" name="Rectangle 59">
            <a:extLst>
              <a:ext uri="{FF2B5EF4-FFF2-40B4-BE49-F238E27FC236}">
                <a16:creationId xmlns:a16="http://schemas.microsoft.com/office/drawing/2014/main" id="{636734CA-7DEB-4ADB-B824-0E93650EA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DE625A4C-E525-4DF0-9380-249F5C8AB1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63" name="Isosceles Triangle 39">
              <a:extLst>
                <a:ext uri="{FF2B5EF4-FFF2-40B4-BE49-F238E27FC236}">
                  <a16:creationId xmlns:a16="http://schemas.microsoft.com/office/drawing/2014/main" id="{133BE1D0-B724-4F5B-AA85-4AB5D1317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09252F3-D811-4B39-8BF1-86C69C262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B5178F5-FA20-0B2F-3D2D-39DD8F17AC10}"/>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2200"/>
              <a:t>CRUCIAL PLAY OF POSTING HOURS IN THE ENGAGEMENT OF THE RATE OF USERS</a:t>
            </a:r>
          </a:p>
        </p:txBody>
      </p:sp>
      <p:graphicFrame>
        <p:nvGraphicFramePr>
          <p:cNvPr id="6" name="Chart 5">
            <a:extLst>
              <a:ext uri="{FF2B5EF4-FFF2-40B4-BE49-F238E27FC236}">
                <a16:creationId xmlns:a16="http://schemas.microsoft.com/office/drawing/2014/main" id="{F5AA6DEC-7154-7913-CE81-555BCB1A899F}"/>
              </a:ext>
            </a:extLst>
          </p:cNvPr>
          <p:cNvGraphicFramePr/>
          <p:nvPr>
            <p:extLst>
              <p:ext uri="{D42A27DB-BD31-4B8C-83A1-F6EECF244321}">
                <p14:modId xmlns:p14="http://schemas.microsoft.com/office/powerpoint/2010/main" val="1685508192"/>
              </p:ext>
            </p:extLst>
          </p:nvPr>
        </p:nvGraphicFramePr>
        <p:xfrm>
          <a:off x="318979" y="321731"/>
          <a:ext cx="11552981" cy="34774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4219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3461-68DC-6928-7338-07B184C8E56B}"/>
              </a:ext>
            </a:extLst>
          </p:cNvPr>
          <p:cNvSpPr>
            <a:spLocks noGrp="1"/>
          </p:cNvSpPr>
          <p:nvPr>
            <p:ph type="title"/>
          </p:nvPr>
        </p:nvSpPr>
        <p:spPr>
          <a:xfrm>
            <a:off x="866859" y="2567639"/>
            <a:ext cx="3498979" cy="2456442"/>
          </a:xfrm>
        </p:spPr>
        <p:txBody>
          <a:bodyPr>
            <a:normAutofit fontScale="90000"/>
          </a:bodyPr>
          <a:lstStyle/>
          <a:p>
            <a:r>
              <a:rPr lang="en-GB" b="1" dirty="0"/>
              <a:t>INSIGHTS ON POSTING HOURS AND ENGAGEMENT RATE</a:t>
            </a:r>
            <a:br>
              <a:rPr lang="en-IN" dirty="0"/>
            </a:br>
            <a:endParaRPr lang="en-IN" dirty="0"/>
          </a:p>
        </p:txBody>
      </p:sp>
      <p:sp>
        <p:nvSpPr>
          <p:cNvPr id="3" name="Content Placeholder 2">
            <a:extLst>
              <a:ext uri="{FF2B5EF4-FFF2-40B4-BE49-F238E27FC236}">
                <a16:creationId xmlns:a16="http://schemas.microsoft.com/office/drawing/2014/main" id="{2F8A7A4F-4595-B4FC-5E64-7AB70D5CFE5E}"/>
              </a:ext>
            </a:extLst>
          </p:cNvPr>
          <p:cNvSpPr>
            <a:spLocks noGrp="1"/>
          </p:cNvSpPr>
          <p:nvPr>
            <p:ph idx="1"/>
          </p:nvPr>
        </p:nvSpPr>
        <p:spPr>
          <a:xfrm>
            <a:off x="4561114" y="141515"/>
            <a:ext cx="7369629" cy="6466114"/>
          </a:xfrm>
        </p:spPr>
        <p:txBody>
          <a:bodyPr>
            <a:normAutofit/>
          </a:bodyPr>
          <a:lstStyle/>
          <a:p>
            <a:pPr>
              <a:buNone/>
            </a:pPr>
            <a:endParaRPr lang="en-US" dirty="0"/>
          </a:p>
          <a:p>
            <a:pPr>
              <a:buFont typeface="Arial" panose="020B0604020202020204" pitchFamily="34" charset="0"/>
              <a:buChar char="•"/>
            </a:pPr>
            <a:r>
              <a:rPr lang="en-US" b="1" dirty="0"/>
              <a:t>6–9 PM (Peak)</a:t>
            </a:r>
            <a:r>
              <a:rPr lang="en-US" dirty="0"/>
              <a:t>: Highest likes &amp; comments as users unwind after work/school.</a:t>
            </a:r>
          </a:p>
          <a:p>
            <a:pPr>
              <a:buFont typeface="Arial" panose="020B0604020202020204" pitchFamily="34" charset="0"/>
              <a:buChar char="•"/>
            </a:pPr>
            <a:r>
              <a:rPr lang="en-US" b="1" dirty="0"/>
              <a:t>7–9 AM (Secondary peak)</a:t>
            </a:r>
            <a:r>
              <a:rPr lang="en-US" dirty="0"/>
              <a:t>: Good for quick, motivational or informative content.</a:t>
            </a:r>
          </a:p>
          <a:p>
            <a:pPr>
              <a:buFont typeface="Arial" panose="020B0604020202020204" pitchFamily="34" charset="0"/>
              <a:buChar char="•"/>
            </a:pPr>
            <a:r>
              <a:rPr lang="en-US" b="1" dirty="0"/>
              <a:t>12–2 PM (Moderate)</a:t>
            </a:r>
            <a:r>
              <a:rPr lang="en-US" dirty="0"/>
              <a:t>: Steady activity but highly competitive—content must stand out.</a:t>
            </a:r>
          </a:p>
          <a:p>
            <a:pPr>
              <a:buFont typeface="Arial" panose="020B0604020202020204" pitchFamily="34" charset="0"/>
              <a:buChar char="•"/>
            </a:pPr>
            <a:r>
              <a:rPr lang="en-US" b="1" dirty="0"/>
              <a:t>10 PM–2 AM (Low)</a:t>
            </a:r>
            <a:r>
              <a:rPr lang="en-US" dirty="0"/>
              <a:t>: Limited engagement; works only for night-active audiences.</a:t>
            </a:r>
          </a:p>
          <a:p>
            <a:pPr>
              <a:buFont typeface="Arial" panose="020B0604020202020204" pitchFamily="34" charset="0"/>
              <a:buChar char="•"/>
            </a:pPr>
            <a:r>
              <a:rPr lang="en-US" b="1" dirty="0"/>
              <a:t>2–6 AM (Minimal)</a:t>
            </a:r>
            <a:r>
              <a:rPr lang="en-US" dirty="0"/>
              <a:t>: Least effective—posts get buried later.</a:t>
            </a:r>
          </a:p>
          <a:p>
            <a:pPr marL="0" indent="0">
              <a:buNone/>
            </a:pPr>
            <a:r>
              <a:rPr lang="en-GB" b="1" dirty="0"/>
              <a:t> </a:t>
            </a:r>
            <a:endParaRPr lang="en-IN" dirty="0"/>
          </a:p>
        </p:txBody>
      </p:sp>
    </p:spTree>
    <p:extLst>
      <p:ext uri="{BB962C8B-B14F-4D97-AF65-F5344CB8AC3E}">
        <p14:creationId xmlns:p14="http://schemas.microsoft.com/office/powerpoint/2010/main" val="195129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73C87-9C82-F16A-298B-6708B27C1577}"/>
              </a:ext>
            </a:extLst>
          </p:cNvPr>
          <p:cNvSpPr>
            <a:spLocks noGrp="1"/>
          </p:cNvSpPr>
          <p:nvPr>
            <p:ph type="title"/>
          </p:nvPr>
        </p:nvSpPr>
        <p:spPr>
          <a:xfrm>
            <a:off x="801547" y="2611182"/>
            <a:ext cx="3781340" cy="2456442"/>
          </a:xfrm>
        </p:spPr>
        <p:txBody>
          <a:bodyPr>
            <a:normAutofit fontScale="90000"/>
          </a:bodyPr>
          <a:lstStyle/>
          <a:p>
            <a:r>
              <a:rPr lang="en-IN" dirty="0"/>
              <a:t>Recommendations for Content Strategy</a:t>
            </a:r>
            <a:br>
              <a:rPr lang="en-IN" dirty="0"/>
            </a:br>
            <a:endParaRPr lang="en-IN" dirty="0"/>
          </a:p>
        </p:txBody>
      </p:sp>
      <p:sp>
        <p:nvSpPr>
          <p:cNvPr id="3" name="Content Placeholder 2">
            <a:extLst>
              <a:ext uri="{FF2B5EF4-FFF2-40B4-BE49-F238E27FC236}">
                <a16:creationId xmlns:a16="http://schemas.microsoft.com/office/drawing/2014/main" id="{B4A15309-B275-EE14-1B67-474C48FD48C9}"/>
              </a:ext>
            </a:extLst>
          </p:cNvPr>
          <p:cNvSpPr>
            <a:spLocks noGrp="1"/>
          </p:cNvSpPr>
          <p:nvPr>
            <p:ph idx="1"/>
          </p:nvPr>
        </p:nvSpPr>
        <p:spPr>
          <a:xfrm>
            <a:off x="4582887" y="326572"/>
            <a:ext cx="7086600" cy="6531428"/>
          </a:xfrm>
        </p:spPr>
        <p:txBody>
          <a:bodyPr>
            <a:normAutofit/>
          </a:bodyPr>
          <a:lstStyle/>
          <a:p>
            <a:r>
              <a:rPr lang="en-GB" b="1" dirty="0"/>
              <a:t>          </a:t>
            </a:r>
            <a:r>
              <a:rPr lang="en-US" b="1" dirty="0"/>
              <a:t>Post in prime hours</a:t>
            </a:r>
            <a:r>
              <a:rPr lang="en-US" dirty="0"/>
              <a:t>: Schedule content between </a:t>
            </a:r>
            <a:r>
              <a:rPr lang="en-US" b="1" dirty="0"/>
              <a:t>6–9 PM</a:t>
            </a:r>
            <a:r>
              <a:rPr lang="en-US" dirty="0"/>
              <a:t> for maximum reach and engagement.</a:t>
            </a:r>
          </a:p>
          <a:p>
            <a:r>
              <a:rPr lang="en-US" b="1" dirty="0"/>
              <a:t>Match content to mindset</a:t>
            </a:r>
            <a:r>
              <a:rPr lang="en-US" dirty="0"/>
              <a:t>:</a:t>
            </a:r>
          </a:p>
          <a:p>
            <a:pPr lvl="1"/>
            <a:r>
              <a:rPr lang="en-US" sz="1800" b="1" dirty="0"/>
              <a:t>Morning</a:t>
            </a:r>
            <a:r>
              <a:rPr lang="en-US" sz="1800" dirty="0"/>
              <a:t> → Inspirational, productivity-focused, quick reads</a:t>
            </a:r>
          </a:p>
          <a:p>
            <a:pPr lvl="1"/>
            <a:r>
              <a:rPr lang="en-US" sz="1800" b="1" dirty="0"/>
              <a:t>Evening</a:t>
            </a:r>
            <a:r>
              <a:rPr lang="en-US" sz="1800" dirty="0"/>
              <a:t> → Entertaining, emotional, community-driven</a:t>
            </a:r>
          </a:p>
          <a:p>
            <a:r>
              <a:rPr lang="en-US" b="1" dirty="0"/>
              <a:t>Avoid off-hours</a:t>
            </a:r>
            <a:r>
              <a:rPr lang="en-US" dirty="0"/>
              <a:t>: Post late night or early morning only for specific time zones or night-active users.</a:t>
            </a:r>
          </a:p>
          <a:p>
            <a:r>
              <a:rPr lang="en-US" b="1" dirty="0"/>
              <a:t>Strategic Takeaway</a:t>
            </a:r>
            <a:br>
              <a:rPr lang="en-US" dirty="0"/>
            </a:br>
            <a:r>
              <a:rPr lang="en-US" dirty="0"/>
              <a:t>⏰ Smart timing aligned with user behavior drives higher visibility, engagement, and performance.</a:t>
            </a:r>
          </a:p>
          <a:p>
            <a:pPr marL="0" indent="0">
              <a:buNone/>
            </a:pPr>
            <a:r>
              <a:rPr lang="en-GB" b="1" dirty="0"/>
              <a:t> </a:t>
            </a:r>
            <a:endParaRPr lang="en-IN" dirty="0"/>
          </a:p>
        </p:txBody>
      </p:sp>
    </p:spTree>
    <p:extLst>
      <p:ext uri="{BB962C8B-B14F-4D97-AF65-F5344CB8AC3E}">
        <p14:creationId xmlns:p14="http://schemas.microsoft.com/office/powerpoint/2010/main" val="389484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D307D92-1B71-4BC9-9CC2-651007D6D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 name="Freeform 5">
              <a:extLst>
                <a:ext uri="{FF2B5EF4-FFF2-40B4-BE49-F238E27FC236}">
                  <a16:creationId xmlns:a16="http://schemas.microsoft.com/office/drawing/2014/main" id="{48196BD5-3A8F-445C-A9AA-33D58149E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1C2BF9A0-70E8-4B69-B595-6C41397CE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D0AFFCFA-812A-4008-8BF5-127D5BB98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6ED7D059-83CD-4EB3-A772-258EB194F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98E9E256-EEDD-487F-8632-7432586E4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76D41A89-1E68-4BD6-9327-A391D7665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0F11C82B-ADCC-489C-88F0-EE6588C70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807C586E-736E-422E-BC3F-ED6D7FA1F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5BCF04A8-F3B9-47D5-90A6-C8DA83C50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702A10B2-AA9E-4570-89ED-37FAE4C9F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F84C29AD-CE3F-457D-8238-121D253A3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A1AADEF1-B8D9-4938-95AA-254872524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400E0898-75B4-4F1D-B6D2-8476FD5EB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82D9A2F9-88A3-4616-B7E5-A6F21C3F2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8DD3B396-47ED-4E9F-83FA-9A87C0CB0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016E5F4B-2563-48BB-9F60-DE80D3A58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C9D6A696-56F1-4BFC-B69C-25447A36E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BA5CF3E5-184E-4CD8-87F9-BB43775260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FE1BA3B9-9135-4961-B757-431F0E420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 name="Group 31">
            <a:extLst>
              <a:ext uri="{FF2B5EF4-FFF2-40B4-BE49-F238E27FC236}">
                <a16:creationId xmlns:a16="http://schemas.microsoft.com/office/drawing/2014/main" id="{7A654156-2BF2-421C-9490-638BE71622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3" name="Rectangle 32">
              <a:extLst>
                <a:ext uri="{FF2B5EF4-FFF2-40B4-BE49-F238E27FC236}">
                  <a16:creationId xmlns:a16="http://schemas.microsoft.com/office/drawing/2014/main" id="{ED8293CB-81CE-4792-A100-92743F37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6044959-7644-4A92-935A-FDDBF623C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0BC61B04-3622-4BB4-A18A-59CEA86A6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37" name="Rectangle 36">
            <a:extLst>
              <a:ext uri="{FF2B5EF4-FFF2-40B4-BE49-F238E27FC236}">
                <a16:creationId xmlns:a16="http://schemas.microsoft.com/office/drawing/2014/main" id="{D7861870-6A8E-4DDD-8DE2-909CFFBD3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0E655274-3DE0-4DF9-B537-2873BEFDF0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0" name="Freeform 5">
              <a:extLst>
                <a:ext uri="{FF2B5EF4-FFF2-40B4-BE49-F238E27FC236}">
                  <a16:creationId xmlns:a16="http://schemas.microsoft.com/office/drawing/2014/main" id="{D4104E89-104E-4E65-A693-631F4C5CE3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6">
              <a:extLst>
                <a:ext uri="{FF2B5EF4-FFF2-40B4-BE49-F238E27FC236}">
                  <a16:creationId xmlns:a16="http://schemas.microsoft.com/office/drawing/2014/main" id="{316FE7D7-6A79-408F-B27B-D378EEE18B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7">
              <a:extLst>
                <a:ext uri="{FF2B5EF4-FFF2-40B4-BE49-F238E27FC236}">
                  <a16:creationId xmlns:a16="http://schemas.microsoft.com/office/drawing/2014/main" id="{EE9DAE2E-0289-4FB3-8A69-DAA0A0AA0B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8">
              <a:extLst>
                <a:ext uri="{FF2B5EF4-FFF2-40B4-BE49-F238E27FC236}">
                  <a16:creationId xmlns:a16="http://schemas.microsoft.com/office/drawing/2014/main" id="{C36BB373-6326-44F1-9B44-4E55C4BC86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9">
              <a:extLst>
                <a:ext uri="{FF2B5EF4-FFF2-40B4-BE49-F238E27FC236}">
                  <a16:creationId xmlns:a16="http://schemas.microsoft.com/office/drawing/2014/main" id="{58135F52-5291-4CC9-AFD8-9AE4683D13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10">
              <a:extLst>
                <a:ext uri="{FF2B5EF4-FFF2-40B4-BE49-F238E27FC236}">
                  <a16:creationId xmlns:a16="http://schemas.microsoft.com/office/drawing/2014/main" id="{0495AD22-9F0C-4EED-B895-9227C795A1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11">
              <a:extLst>
                <a:ext uri="{FF2B5EF4-FFF2-40B4-BE49-F238E27FC236}">
                  <a16:creationId xmlns:a16="http://schemas.microsoft.com/office/drawing/2014/main" id="{ACAD2097-745B-4FED-BBF3-D3BEF41D30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12">
              <a:extLst>
                <a:ext uri="{FF2B5EF4-FFF2-40B4-BE49-F238E27FC236}">
                  <a16:creationId xmlns:a16="http://schemas.microsoft.com/office/drawing/2014/main" id="{8B6FD381-B092-46F4-9195-DFCD2AE746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13">
              <a:extLst>
                <a:ext uri="{FF2B5EF4-FFF2-40B4-BE49-F238E27FC236}">
                  <a16:creationId xmlns:a16="http://schemas.microsoft.com/office/drawing/2014/main" id="{5F8C46B0-088A-4D98-B589-25426A3235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14">
              <a:extLst>
                <a:ext uri="{FF2B5EF4-FFF2-40B4-BE49-F238E27FC236}">
                  <a16:creationId xmlns:a16="http://schemas.microsoft.com/office/drawing/2014/main" id="{6E553E74-B64A-44B3-9446-E346D53E1F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15">
              <a:extLst>
                <a:ext uri="{FF2B5EF4-FFF2-40B4-BE49-F238E27FC236}">
                  <a16:creationId xmlns:a16="http://schemas.microsoft.com/office/drawing/2014/main" id="{CCD9A238-C92A-41FA-B4F6-8604FE5F24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D6E90D44-18A2-4216-BBD5-B3E059EA75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17">
              <a:extLst>
                <a:ext uri="{FF2B5EF4-FFF2-40B4-BE49-F238E27FC236}">
                  <a16:creationId xmlns:a16="http://schemas.microsoft.com/office/drawing/2014/main" id="{EC7138BA-DA37-4EB0-88F0-1913445974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18">
              <a:extLst>
                <a:ext uri="{FF2B5EF4-FFF2-40B4-BE49-F238E27FC236}">
                  <a16:creationId xmlns:a16="http://schemas.microsoft.com/office/drawing/2014/main" id="{F05CB203-4AC6-46EE-9A10-6CFB1B443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19">
              <a:extLst>
                <a:ext uri="{FF2B5EF4-FFF2-40B4-BE49-F238E27FC236}">
                  <a16:creationId xmlns:a16="http://schemas.microsoft.com/office/drawing/2014/main" id="{A1045457-59FA-436A-8C16-79A07605DE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a:extLst>
                <a:ext uri="{FF2B5EF4-FFF2-40B4-BE49-F238E27FC236}">
                  <a16:creationId xmlns:a16="http://schemas.microsoft.com/office/drawing/2014/main" id="{28EAE40C-5126-4E1A-BB3B-1834EC8904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21">
              <a:extLst>
                <a:ext uri="{FF2B5EF4-FFF2-40B4-BE49-F238E27FC236}">
                  <a16:creationId xmlns:a16="http://schemas.microsoft.com/office/drawing/2014/main" id="{380F3822-ADB8-46D8-8528-B946CA2274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22">
              <a:extLst>
                <a:ext uri="{FF2B5EF4-FFF2-40B4-BE49-F238E27FC236}">
                  <a16:creationId xmlns:a16="http://schemas.microsoft.com/office/drawing/2014/main" id="{C7F31617-527F-483F-95EA-DBA880C2AF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23">
              <a:extLst>
                <a:ext uri="{FF2B5EF4-FFF2-40B4-BE49-F238E27FC236}">
                  <a16:creationId xmlns:a16="http://schemas.microsoft.com/office/drawing/2014/main" id="{B3359A7F-3190-4775-8064-02D289FA52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0" name="Rectangle 59">
            <a:extLst>
              <a:ext uri="{FF2B5EF4-FFF2-40B4-BE49-F238E27FC236}">
                <a16:creationId xmlns:a16="http://schemas.microsoft.com/office/drawing/2014/main" id="{636734CA-7DEB-4ADB-B824-0E93650EA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DE625A4C-E525-4DF0-9380-249F5C8AB1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63" name="Isosceles Triangle 39">
              <a:extLst>
                <a:ext uri="{FF2B5EF4-FFF2-40B4-BE49-F238E27FC236}">
                  <a16:creationId xmlns:a16="http://schemas.microsoft.com/office/drawing/2014/main" id="{133BE1D0-B724-4F5B-AA85-4AB5D1317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09252F3-D811-4B39-8BF1-86C69C262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35244D8-9810-C680-C89B-FCA220C40BCD}"/>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3700" dirty="0"/>
              <a:t>RANKING USERS BY TOTAL ENGAGEMENT</a:t>
            </a:r>
          </a:p>
        </p:txBody>
      </p:sp>
      <mc:AlternateContent xmlns:mc="http://schemas.openxmlformats.org/markup-compatibility/2006" xmlns:cx2="http://schemas.microsoft.com/office/drawing/2015/10/21/chartex">
        <mc:Choice Requires="cx2">
          <p:graphicFrame>
            <p:nvGraphicFramePr>
              <p:cNvPr id="6" name="Chart 5">
                <a:extLst>
                  <a:ext uri="{FF2B5EF4-FFF2-40B4-BE49-F238E27FC236}">
                    <a16:creationId xmlns:a16="http://schemas.microsoft.com/office/drawing/2014/main" id="{3F8F213B-3E1D-E132-0C8B-16292E783C29}"/>
                  </a:ext>
                </a:extLst>
              </p:cNvPr>
              <p:cNvGraphicFramePr/>
              <p:nvPr>
                <p:extLst>
                  <p:ext uri="{D42A27DB-BD31-4B8C-83A1-F6EECF244321}">
                    <p14:modId xmlns:p14="http://schemas.microsoft.com/office/powerpoint/2010/main" val="503508315"/>
                  </p:ext>
                </p:extLst>
              </p:nvPr>
            </p:nvGraphicFramePr>
            <p:xfrm>
              <a:off x="318979" y="321731"/>
              <a:ext cx="11552981" cy="3477458"/>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6" name="Chart 5">
                <a:extLst>
                  <a:ext uri="{FF2B5EF4-FFF2-40B4-BE49-F238E27FC236}">
                    <a16:creationId xmlns:a16="http://schemas.microsoft.com/office/drawing/2014/main" id="{3F8F213B-3E1D-E132-0C8B-16292E783C29}"/>
                  </a:ext>
                </a:extLst>
              </p:cNvPr>
              <p:cNvPicPr>
                <a:picLocks noGrp="1" noRot="1" noChangeAspect="1" noMove="1" noResize="1" noEditPoints="1" noAdjustHandles="1" noChangeArrowheads="1" noChangeShapeType="1"/>
              </p:cNvPicPr>
              <p:nvPr/>
            </p:nvPicPr>
            <p:blipFill>
              <a:blip r:embed="rId3"/>
              <a:stretch>
                <a:fillRect/>
              </a:stretch>
            </p:blipFill>
            <p:spPr>
              <a:xfrm>
                <a:off x="318979" y="321731"/>
                <a:ext cx="11552981" cy="3477458"/>
              </a:xfrm>
              <a:prstGeom prst="rect">
                <a:avLst/>
              </a:prstGeom>
            </p:spPr>
          </p:pic>
        </mc:Fallback>
      </mc:AlternateContent>
    </p:spTree>
    <p:extLst>
      <p:ext uri="{BB962C8B-B14F-4D97-AF65-F5344CB8AC3E}">
        <p14:creationId xmlns:p14="http://schemas.microsoft.com/office/powerpoint/2010/main" val="1390268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5FB7F-4F84-7C0E-EAEA-0C7ED0608015}"/>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929E11A2-CB86-D262-41D5-502964A5092E}"/>
              </a:ext>
            </a:extLst>
          </p:cNvPr>
          <p:cNvSpPr>
            <a:spLocks noGrp="1"/>
          </p:cNvSpPr>
          <p:nvPr>
            <p:ph idx="1"/>
          </p:nvPr>
        </p:nvSpPr>
        <p:spPr>
          <a:xfrm>
            <a:off x="5205532" y="1467215"/>
            <a:ext cx="6281873" cy="5248622"/>
          </a:xfrm>
        </p:spPr>
        <p:txBody>
          <a:bodyPr/>
          <a:lstStyle/>
          <a:p>
            <a:r>
              <a:rPr lang="en-US" b="1" dirty="0"/>
              <a:t>Engagement Rate</a:t>
            </a:r>
            <a:endParaRPr lang="en-US" dirty="0"/>
          </a:p>
          <a:p>
            <a:r>
              <a:rPr lang="en-US" b="1" dirty="0"/>
              <a:t>Formula</a:t>
            </a:r>
            <a:r>
              <a:rPr lang="en-US" dirty="0"/>
              <a:t>: </a:t>
            </a:r>
            <a:r>
              <a:rPr lang="en-US" b="1" dirty="0"/>
              <a:t>(Likes + Comments) ÷ Total Followers</a:t>
            </a:r>
            <a:endParaRPr lang="en-US" dirty="0"/>
          </a:p>
          <a:p>
            <a:r>
              <a:rPr lang="en-US" b="1" dirty="0"/>
              <a:t>Purpose</a:t>
            </a:r>
            <a:r>
              <a:rPr lang="en-US" dirty="0"/>
              <a:t>: Measures how actively a user’s audience interacts with their content.</a:t>
            </a:r>
          </a:p>
          <a:p>
            <a:r>
              <a:rPr lang="en-US" b="1" dirty="0"/>
              <a:t>Engagement-Based Segmentation</a:t>
            </a:r>
            <a:endParaRPr lang="en-US" dirty="0"/>
          </a:p>
          <a:p>
            <a:r>
              <a:rPr lang="en-US" dirty="0"/>
              <a:t>Classify users using </a:t>
            </a:r>
            <a:r>
              <a:rPr lang="en-US" b="1" dirty="0"/>
              <a:t>total likes, comments, and post volume</a:t>
            </a:r>
            <a:r>
              <a:rPr lang="en-US" dirty="0"/>
              <a:t>.</a:t>
            </a:r>
          </a:p>
          <a:p>
            <a:r>
              <a:rPr lang="en-US" dirty="0"/>
              <a:t>Segment into </a:t>
            </a:r>
            <a:r>
              <a:rPr lang="en-US" b="1" dirty="0"/>
              <a:t>high</a:t>
            </a:r>
            <a:r>
              <a:rPr lang="en-US" dirty="0"/>
              <a:t>, </a:t>
            </a:r>
            <a:r>
              <a:rPr lang="en-US" b="1" dirty="0"/>
              <a:t>medium</a:t>
            </a:r>
            <a:r>
              <a:rPr lang="en-US" dirty="0"/>
              <a:t>, and </a:t>
            </a:r>
            <a:r>
              <a:rPr lang="en-US" b="1" dirty="0"/>
              <a:t>low engagement</a:t>
            </a:r>
            <a:r>
              <a:rPr lang="en-US" dirty="0"/>
              <a:t> groups for targeted analysis and strategy.</a:t>
            </a:r>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31364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D307D92-1B71-4BC9-9CC2-651007D6D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 name="Freeform 5">
              <a:extLst>
                <a:ext uri="{FF2B5EF4-FFF2-40B4-BE49-F238E27FC236}">
                  <a16:creationId xmlns:a16="http://schemas.microsoft.com/office/drawing/2014/main" id="{48196BD5-3A8F-445C-A9AA-33D58149E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1C2BF9A0-70E8-4B69-B595-6C41397CE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D0AFFCFA-812A-4008-8BF5-127D5BB98C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6ED7D059-83CD-4EB3-A772-258EB194F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98E9E256-EEDD-487F-8632-7432586E44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76D41A89-1E68-4BD6-9327-A391D7665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0F11C82B-ADCC-489C-88F0-EE6588C70F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807C586E-736E-422E-BC3F-ED6D7FA1FD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5BCF04A8-F3B9-47D5-90A6-C8DA83C50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702A10B2-AA9E-4570-89ED-37FAE4C9F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F84C29AD-CE3F-457D-8238-121D253A3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A1AADEF1-B8D9-4938-95AA-254872524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400E0898-75B4-4F1D-B6D2-8476FD5EB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82D9A2F9-88A3-4616-B7E5-A6F21C3F2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8DD3B396-47ED-4E9F-83FA-9A87C0CB0D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016E5F4B-2563-48BB-9F60-DE80D3A58F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C9D6A696-56F1-4BFC-B69C-25447A36E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BA5CF3E5-184E-4CD8-87F9-BB43775260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FE1BA3B9-9135-4961-B757-431F0E420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2" name="Group 31">
            <a:extLst>
              <a:ext uri="{FF2B5EF4-FFF2-40B4-BE49-F238E27FC236}">
                <a16:creationId xmlns:a16="http://schemas.microsoft.com/office/drawing/2014/main" id="{7A654156-2BF2-421C-9490-638BE71622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3" name="Rectangle 32">
              <a:extLst>
                <a:ext uri="{FF2B5EF4-FFF2-40B4-BE49-F238E27FC236}">
                  <a16:creationId xmlns:a16="http://schemas.microsoft.com/office/drawing/2014/main" id="{ED8293CB-81CE-4792-A100-92743F37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6044959-7644-4A92-935A-FDDBF623C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0BC61B04-3622-4BB4-A18A-59CEA86A6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useBgFill="1">
        <p:nvSpPr>
          <p:cNvPr id="37" name="Rectangle 36">
            <a:extLst>
              <a:ext uri="{FF2B5EF4-FFF2-40B4-BE49-F238E27FC236}">
                <a16:creationId xmlns:a16="http://schemas.microsoft.com/office/drawing/2014/main" id="{D7861870-6A8E-4DDD-8DE2-909CFFBD3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0E655274-3DE0-4DF9-B537-2873BEFDF0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0" name="Freeform 5">
              <a:extLst>
                <a:ext uri="{FF2B5EF4-FFF2-40B4-BE49-F238E27FC236}">
                  <a16:creationId xmlns:a16="http://schemas.microsoft.com/office/drawing/2014/main" id="{D4104E89-104E-4E65-A693-631F4C5CE3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9674" y="1298404"/>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6">
              <a:extLst>
                <a:ext uri="{FF2B5EF4-FFF2-40B4-BE49-F238E27FC236}">
                  <a16:creationId xmlns:a16="http://schemas.microsoft.com/office/drawing/2014/main" id="{316FE7D7-6A79-408F-B27B-D378EEE18B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451" y="2018236"/>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7">
              <a:extLst>
                <a:ext uri="{FF2B5EF4-FFF2-40B4-BE49-F238E27FC236}">
                  <a16:creationId xmlns:a16="http://schemas.microsoft.com/office/drawing/2014/main" id="{EE9DAE2E-0289-4FB3-8A69-DAA0A0AA0B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51" y="1788400"/>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8">
              <a:extLst>
                <a:ext uri="{FF2B5EF4-FFF2-40B4-BE49-F238E27FC236}">
                  <a16:creationId xmlns:a16="http://schemas.microsoft.com/office/drawing/2014/main" id="{C36BB373-6326-44F1-9B44-4E55C4BC86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49842"/>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Freeform 9">
              <a:extLst>
                <a:ext uri="{FF2B5EF4-FFF2-40B4-BE49-F238E27FC236}">
                  <a16:creationId xmlns:a16="http://schemas.microsoft.com/office/drawing/2014/main" id="{58135F52-5291-4CC9-AFD8-9AE4683D13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6186246"/>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Freeform 10">
              <a:extLst>
                <a:ext uri="{FF2B5EF4-FFF2-40B4-BE49-F238E27FC236}">
                  <a16:creationId xmlns:a16="http://schemas.microsoft.com/office/drawing/2014/main" id="{0495AD22-9F0C-4EED-B895-9227C795A1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1881"/>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Freeform 11">
              <a:extLst>
                <a:ext uri="{FF2B5EF4-FFF2-40B4-BE49-F238E27FC236}">
                  <a16:creationId xmlns:a16="http://schemas.microsoft.com/office/drawing/2014/main" id="{ACAD2097-745B-4FED-BBF3-D3BEF41D30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26601" y="5579"/>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12">
              <a:extLst>
                <a:ext uri="{FF2B5EF4-FFF2-40B4-BE49-F238E27FC236}">
                  <a16:creationId xmlns:a16="http://schemas.microsoft.com/office/drawing/2014/main" id="{8B6FD381-B092-46F4-9195-DFCD2AE746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13">
              <a:extLst>
                <a:ext uri="{FF2B5EF4-FFF2-40B4-BE49-F238E27FC236}">
                  <a16:creationId xmlns:a16="http://schemas.microsoft.com/office/drawing/2014/main" id="{5F8C46B0-088A-4D98-B589-25426A3235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1889" y="5579"/>
              <a:ext cx="5588000" cy="6866337"/>
            </a:xfrm>
            <a:custGeom>
              <a:avLst/>
              <a:gdLst>
                <a:gd name="T0" fmla="*/ 1067 w 1174"/>
                <a:gd name="T1" fmla="*/ 1440 h 1440"/>
                <a:gd name="T2" fmla="*/ 698 w 1174"/>
                <a:gd name="T3" fmla="*/ 577 h 1440"/>
                <a:gd name="T4" fmla="*/ 0 w 1174"/>
                <a:gd name="T5" fmla="*/ 0 h 1440"/>
              </a:gdLst>
              <a:ahLst/>
              <a:cxnLst>
                <a:cxn ang="0">
                  <a:pos x="T0" y="T1"/>
                </a:cxn>
                <a:cxn ang="0">
                  <a:pos x="T2" y="T3"/>
                </a:cxn>
                <a:cxn ang="0">
                  <a:pos x="T4" y="T5"/>
                </a:cxn>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14">
              <a:extLst>
                <a:ext uri="{FF2B5EF4-FFF2-40B4-BE49-F238E27FC236}">
                  <a16:creationId xmlns:a16="http://schemas.microsoft.com/office/drawing/2014/main" id="{6E553E74-B64A-44B3-9446-E346D53E1F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1" y="790"/>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15">
              <a:extLst>
                <a:ext uri="{FF2B5EF4-FFF2-40B4-BE49-F238E27FC236}">
                  <a16:creationId xmlns:a16="http://schemas.microsoft.com/office/drawing/2014/main" id="{CCD9A238-C92A-41FA-B4F6-8604FE5F24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12389" y="5579"/>
              <a:ext cx="5497513" cy="6866337"/>
            </a:xfrm>
            <a:custGeom>
              <a:avLst/>
              <a:gdLst>
                <a:gd name="T0" fmla="*/ 1056 w 1155"/>
                <a:gd name="T1" fmla="*/ 1440 h 1440"/>
                <a:gd name="T2" fmla="*/ 686 w 1155"/>
                <a:gd name="T3" fmla="*/ 580 h 1440"/>
                <a:gd name="T4" fmla="*/ 0 w 1155"/>
                <a:gd name="T5" fmla="*/ 0 h 1440"/>
              </a:gdLst>
              <a:ahLst/>
              <a:cxnLst>
                <a:cxn ang="0">
                  <a:pos x="T0" y="T1"/>
                </a:cxn>
                <a:cxn ang="0">
                  <a:pos x="T2" y="T3"/>
                </a:cxn>
                <a:cxn ang="0">
                  <a:pos x="T4" y="T5"/>
                </a:cxn>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D6E90D44-18A2-4216-BBD5-B3E059EA75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1" y="5579"/>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17">
              <a:extLst>
                <a:ext uri="{FF2B5EF4-FFF2-40B4-BE49-F238E27FC236}">
                  <a16:creationId xmlns:a16="http://schemas.microsoft.com/office/drawing/2014/main" id="{EC7138BA-DA37-4EB0-88F0-1913445974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10826" y="790"/>
              <a:ext cx="5522913" cy="6871126"/>
            </a:xfrm>
            <a:custGeom>
              <a:avLst/>
              <a:gdLst>
                <a:gd name="T0" fmla="*/ 1053 w 1160"/>
                <a:gd name="T1" fmla="*/ 1441 h 1441"/>
                <a:gd name="T2" fmla="*/ 705 w 1160"/>
                <a:gd name="T3" fmla="*/ 599 h 1441"/>
                <a:gd name="T4" fmla="*/ 0 w 1160"/>
                <a:gd name="T5" fmla="*/ 0 h 1441"/>
              </a:gdLst>
              <a:ahLst/>
              <a:cxnLst>
                <a:cxn ang="0">
                  <a:pos x="T0" y="T1"/>
                </a:cxn>
                <a:cxn ang="0">
                  <a:pos x="T2" y="T3"/>
                </a:cxn>
                <a:cxn ang="0">
                  <a:pos x="T4" y="T5"/>
                </a:cxn>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18">
              <a:extLst>
                <a:ext uri="{FF2B5EF4-FFF2-40B4-BE49-F238E27FC236}">
                  <a16:creationId xmlns:a16="http://schemas.microsoft.com/office/drawing/2014/main" id="{F05CB203-4AC6-46EE-9A10-6CFB1B443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63239" y="5579"/>
              <a:ext cx="5413375" cy="6866337"/>
            </a:xfrm>
            <a:custGeom>
              <a:avLst/>
              <a:gdLst>
                <a:gd name="T0" fmla="*/ 1040 w 1137"/>
                <a:gd name="T1" fmla="*/ 1440 h 1440"/>
                <a:gd name="T2" fmla="*/ 698 w 1137"/>
                <a:gd name="T3" fmla="*/ 611 h 1440"/>
                <a:gd name="T4" fmla="*/ 0 w 1137"/>
                <a:gd name="T5" fmla="*/ 0 h 1440"/>
              </a:gdLst>
              <a:ahLst/>
              <a:cxnLst>
                <a:cxn ang="0">
                  <a:pos x="T0" y="T1"/>
                </a:cxn>
                <a:cxn ang="0">
                  <a:pos x="T2" y="T3"/>
                </a:cxn>
                <a:cxn ang="0">
                  <a:pos x="T4" y="T5"/>
                </a:cxn>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Freeform 19">
              <a:extLst>
                <a:ext uri="{FF2B5EF4-FFF2-40B4-BE49-F238E27FC236}">
                  <a16:creationId xmlns:a16="http://schemas.microsoft.com/office/drawing/2014/main" id="{A1045457-59FA-436A-8C16-79A07605DE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77576" y="5579"/>
              <a:ext cx="5037138" cy="6861550"/>
            </a:xfrm>
            <a:custGeom>
              <a:avLst/>
              <a:gdLst>
                <a:gd name="T0" fmla="*/ 1011 w 1058"/>
                <a:gd name="T1" fmla="*/ 1439 h 1439"/>
                <a:gd name="T2" fmla="*/ 648 w 1058"/>
                <a:gd name="T3" fmla="*/ 617 h 1439"/>
                <a:gd name="T4" fmla="*/ 0 w 1058"/>
                <a:gd name="T5" fmla="*/ 0 h 1439"/>
              </a:gdLst>
              <a:ahLst/>
              <a:cxnLst>
                <a:cxn ang="0">
                  <a:pos x="T0" y="T1"/>
                </a:cxn>
                <a:cxn ang="0">
                  <a:pos x="T2" y="T3"/>
                </a:cxn>
                <a:cxn ang="0">
                  <a:pos x="T4" y="T5"/>
                </a:cxn>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Freeform 20">
              <a:extLst>
                <a:ext uri="{FF2B5EF4-FFF2-40B4-BE49-F238E27FC236}">
                  <a16:creationId xmlns:a16="http://schemas.microsoft.com/office/drawing/2014/main" id="{28EAE40C-5126-4E1A-BB3B-1834EC8904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68289" y="5579"/>
              <a:ext cx="3417888" cy="2742066"/>
            </a:xfrm>
            <a:custGeom>
              <a:avLst/>
              <a:gdLst>
                <a:gd name="T0" fmla="*/ 718 w 718"/>
                <a:gd name="T1" fmla="*/ 575 h 575"/>
                <a:gd name="T2" fmla="*/ 0 w 718"/>
                <a:gd name="T3" fmla="*/ 0 h 575"/>
              </a:gdLst>
              <a:ahLst/>
              <a:cxnLst>
                <a:cxn ang="0">
                  <a:pos x="T0" y="T1"/>
                </a:cxn>
                <a:cxn ang="0">
                  <a:pos x="T2" y="T3"/>
                </a:cxn>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Freeform 21">
              <a:extLst>
                <a:ext uri="{FF2B5EF4-FFF2-40B4-BE49-F238E27FC236}">
                  <a16:creationId xmlns:a16="http://schemas.microsoft.com/office/drawing/2014/main" id="{380F3822-ADB8-46D8-8528-B946CA2274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5014" y="10367"/>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22">
              <a:extLst>
                <a:ext uri="{FF2B5EF4-FFF2-40B4-BE49-F238E27FC236}">
                  <a16:creationId xmlns:a16="http://schemas.microsoft.com/office/drawing/2014/main" id="{C7F31617-527F-483F-95EA-DBA880C2AF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20826" y="5579"/>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23">
              <a:extLst>
                <a:ext uri="{FF2B5EF4-FFF2-40B4-BE49-F238E27FC236}">
                  <a16:creationId xmlns:a16="http://schemas.microsoft.com/office/drawing/2014/main" id="{B3359A7F-3190-4775-8064-02D289FA52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0826" y="5579"/>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60" name="Rectangle 59">
            <a:extLst>
              <a:ext uri="{FF2B5EF4-FFF2-40B4-BE49-F238E27FC236}">
                <a16:creationId xmlns:a16="http://schemas.microsoft.com/office/drawing/2014/main" id="{636734CA-7DEB-4ADB-B824-0E93650EAD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80" y="-6706"/>
            <a:ext cx="12194680" cy="4127711"/>
          </a:xfrm>
          <a:prstGeom prst="rect">
            <a:avLst/>
          </a:prstGeom>
          <a:solidFill>
            <a:schemeClr val="bg1"/>
          </a:solidFill>
          <a:ln w="9525">
            <a:solidFill>
              <a:schemeClr val="tx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DE625A4C-E525-4DF0-9380-249F5C8AB10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206292"/>
            <a:ext cx="12192755" cy="1771275"/>
            <a:chOff x="1" y="3893141"/>
            <a:chExt cx="12192755" cy="1771275"/>
          </a:xfrm>
        </p:grpSpPr>
        <p:sp>
          <p:nvSpPr>
            <p:cNvPr id="63" name="Isosceles Triangle 39">
              <a:extLst>
                <a:ext uri="{FF2B5EF4-FFF2-40B4-BE49-F238E27FC236}">
                  <a16:creationId xmlns:a16="http://schemas.microsoft.com/office/drawing/2014/main" id="{133BE1D0-B724-4F5B-AA85-4AB5D1317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09252F3-D811-4B39-8BF1-86C69C262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3893141"/>
              <a:ext cx="12192755" cy="14202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0027397-831C-D558-1256-B972F9CE5CA7}"/>
              </a:ext>
            </a:extLst>
          </p:cNvPr>
          <p:cNvSpPr>
            <a:spLocks noGrp="1"/>
          </p:cNvSpPr>
          <p:nvPr>
            <p:ph type="title"/>
          </p:nvPr>
        </p:nvSpPr>
        <p:spPr>
          <a:xfrm>
            <a:off x="1683982" y="4293388"/>
            <a:ext cx="8833655" cy="727748"/>
          </a:xfrm>
        </p:spPr>
        <p:txBody>
          <a:bodyPr vert="horz" lIns="228600" tIns="228600" rIns="228600" bIns="0" rtlCol="0" anchor="b">
            <a:normAutofit/>
          </a:bodyPr>
          <a:lstStyle/>
          <a:p>
            <a:pPr>
              <a:lnSpc>
                <a:spcPct val="80000"/>
              </a:lnSpc>
            </a:pPr>
            <a:r>
              <a:rPr lang="en-US" sz="3100" dirty="0"/>
              <a:t>CATEGORIZING USERS BASED ON ENGAGEMENT LEVELS</a:t>
            </a:r>
          </a:p>
        </p:txBody>
      </p:sp>
      <p:graphicFrame>
        <p:nvGraphicFramePr>
          <p:cNvPr id="6" name="Chart 5">
            <a:extLst>
              <a:ext uri="{FF2B5EF4-FFF2-40B4-BE49-F238E27FC236}">
                <a16:creationId xmlns:a16="http://schemas.microsoft.com/office/drawing/2014/main" id="{9F76E48A-C1FB-0C5D-F35E-E922249017C1}"/>
              </a:ext>
            </a:extLst>
          </p:cNvPr>
          <p:cNvGraphicFramePr>
            <a:graphicFrameLocks/>
          </p:cNvGraphicFramePr>
          <p:nvPr>
            <p:extLst>
              <p:ext uri="{D42A27DB-BD31-4B8C-83A1-F6EECF244321}">
                <p14:modId xmlns:p14="http://schemas.microsoft.com/office/powerpoint/2010/main" val="3320187241"/>
              </p:ext>
            </p:extLst>
          </p:nvPr>
        </p:nvGraphicFramePr>
        <p:xfrm>
          <a:off x="318979" y="321731"/>
          <a:ext cx="11552981" cy="34774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11306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BFDF-C628-DA2B-F18C-342C8DFCBA51}"/>
              </a:ext>
            </a:extLst>
          </p:cNvPr>
          <p:cNvSpPr>
            <a:spLocks noGrp="1"/>
          </p:cNvSpPr>
          <p:nvPr>
            <p:ph type="title"/>
          </p:nvPr>
        </p:nvSpPr>
        <p:spPr/>
        <p:txBody>
          <a:bodyPr/>
          <a:lstStyle/>
          <a:p>
            <a:r>
              <a:rPr lang="en-IN" dirty="0"/>
              <a:t>VARIETIES OF SEGMENTATIONS</a:t>
            </a:r>
            <a:endParaRPr lang="en-US" dirty="0"/>
          </a:p>
        </p:txBody>
      </p:sp>
      <p:sp>
        <p:nvSpPr>
          <p:cNvPr id="3" name="Content Placeholder 2">
            <a:extLst>
              <a:ext uri="{FF2B5EF4-FFF2-40B4-BE49-F238E27FC236}">
                <a16:creationId xmlns:a16="http://schemas.microsoft.com/office/drawing/2014/main" id="{7D52AE97-00C0-C921-1A29-8A18A94620A2}"/>
              </a:ext>
            </a:extLst>
          </p:cNvPr>
          <p:cNvSpPr>
            <a:spLocks noGrp="1"/>
          </p:cNvSpPr>
          <p:nvPr>
            <p:ph sz="half" idx="1"/>
          </p:nvPr>
        </p:nvSpPr>
        <p:spPr>
          <a:xfrm>
            <a:off x="5076952" y="2142130"/>
            <a:ext cx="6269591" cy="2382651"/>
          </a:xfrm>
        </p:spPr>
        <p:txBody>
          <a:bodyPr/>
          <a:lstStyle/>
          <a:p>
            <a:pPr>
              <a:buNone/>
            </a:pPr>
            <a:r>
              <a:rPr lang="en-US" b="1" dirty="0"/>
              <a:t>Segmentation by Engagement Level</a:t>
            </a:r>
            <a:endParaRPr lang="en-US" dirty="0"/>
          </a:p>
          <a:p>
            <a:pPr>
              <a:buFont typeface="Arial" panose="020B0604020202020204" pitchFamily="34" charset="0"/>
              <a:buChar char="•"/>
            </a:pPr>
            <a:r>
              <a:rPr lang="en-US" dirty="0"/>
              <a:t>Classify users using </a:t>
            </a:r>
            <a:r>
              <a:rPr lang="en-US" b="1" dirty="0"/>
              <a:t>total likes, comments, and post frequency</a:t>
            </a:r>
            <a:r>
              <a:rPr lang="en-US" dirty="0"/>
              <a:t>.</a:t>
            </a:r>
          </a:p>
          <a:p>
            <a:pPr>
              <a:buFont typeface="Arial" panose="020B0604020202020204" pitchFamily="34" charset="0"/>
              <a:buChar char="•"/>
            </a:pPr>
            <a:r>
              <a:rPr lang="en-US" dirty="0"/>
              <a:t>Group users into </a:t>
            </a:r>
            <a:r>
              <a:rPr lang="en-US" b="1" dirty="0"/>
              <a:t>high</a:t>
            </a:r>
            <a:r>
              <a:rPr lang="en-US" dirty="0"/>
              <a:t>, </a:t>
            </a:r>
            <a:r>
              <a:rPr lang="en-US" b="1" dirty="0"/>
              <a:t>medium</a:t>
            </a:r>
            <a:r>
              <a:rPr lang="en-US" dirty="0"/>
              <a:t>, and </a:t>
            </a:r>
            <a:r>
              <a:rPr lang="en-US" b="1" dirty="0"/>
              <a:t>low engagement</a:t>
            </a:r>
            <a:r>
              <a:rPr lang="en-US" dirty="0"/>
              <a:t> segments for targeted insights and actions.</a:t>
            </a:r>
          </a:p>
          <a:p>
            <a:endParaRPr lang="en-US" dirty="0"/>
          </a:p>
        </p:txBody>
      </p:sp>
    </p:spTree>
    <p:extLst>
      <p:ext uri="{BB962C8B-B14F-4D97-AF65-F5344CB8AC3E}">
        <p14:creationId xmlns:p14="http://schemas.microsoft.com/office/powerpoint/2010/main" val="265634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Shape 1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Shape 1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Shape 1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14921E1-6E8E-E4A3-5AD7-5F526293543F}"/>
              </a:ext>
            </a:extLst>
          </p:cNvPr>
          <p:cNvSpPr>
            <a:spLocks noGrp="1"/>
          </p:cNvSpPr>
          <p:nvPr>
            <p:ph type="title"/>
          </p:nvPr>
        </p:nvSpPr>
        <p:spPr>
          <a:xfrm>
            <a:off x="7874928" y="1134143"/>
            <a:ext cx="4632758" cy="3807972"/>
          </a:xfrm>
        </p:spPr>
        <p:txBody>
          <a:bodyPr>
            <a:normAutofit/>
          </a:bodyPr>
          <a:lstStyle/>
          <a:p>
            <a:pPr algn="l"/>
            <a:r>
              <a:rPr lang="en-IN" dirty="0"/>
              <a:t>FINAL RECOMMENDATIONS</a:t>
            </a:r>
          </a:p>
        </p:txBody>
      </p:sp>
      <p:sp>
        <p:nvSpPr>
          <p:cNvPr id="7" name="Content Placeholder 2">
            <a:extLst>
              <a:ext uri="{FF2B5EF4-FFF2-40B4-BE49-F238E27FC236}">
                <a16:creationId xmlns:a16="http://schemas.microsoft.com/office/drawing/2014/main" id="{545C00B8-9BFD-4708-3327-B1B16B6FF071}"/>
              </a:ext>
            </a:extLst>
          </p:cNvPr>
          <p:cNvSpPr>
            <a:spLocks noGrp="1"/>
          </p:cNvSpPr>
          <p:nvPr>
            <p:ph idx="1"/>
          </p:nvPr>
        </p:nvSpPr>
        <p:spPr>
          <a:xfrm>
            <a:off x="798577" y="803186"/>
            <a:ext cx="5427137" cy="5248622"/>
          </a:xfrm>
        </p:spPr>
        <p:txBody>
          <a:bodyPr>
            <a:normAutofit fontScale="92500" lnSpcReduction="20000"/>
          </a:bodyPr>
          <a:lstStyle/>
          <a:p>
            <a:pPr>
              <a:buNone/>
            </a:pPr>
            <a:r>
              <a:rPr lang="en-US" b="1" dirty="0"/>
              <a:t>Ad Strategy Optimization</a:t>
            </a:r>
            <a:endParaRPr lang="en-US" dirty="0"/>
          </a:p>
          <a:p>
            <a:pPr>
              <a:buFont typeface="Arial" panose="020B0604020202020204" pitchFamily="34" charset="0"/>
              <a:buChar char="•"/>
            </a:pPr>
            <a:r>
              <a:rPr lang="en-US" b="1" dirty="0"/>
              <a:t>Performance segmentation</a:t>
            </a:r>
            <a:r>
              <a:rPr lang="en-US" dirty="0"/>
              <a:t>: Analyze results by demographics, device, and timing to refine targeting and scheduling.</a:t>
            </a:r>
          </a:p>
          <a:p>
            <a:pPr>
              <a:buFont typeface="Arial" panose="020B0604020202020204" pitchFamily="34" charset="0"/>
              <a:buChar char="•"/>
            </a:pPr>
            <a:r>
              <a:rPr lang="en-US" b="1" dirty="0"/>
              <a:t>A/B testing</a:t>
            </a:r>
            <a:r>
              <a:rPr lang="en-US" dirty="0"/>
              <a:t>: Continuously test creatives, messaging, and CTAs to improve performance.</a:t>
            </a:r>
          </a:p>
          <a:p>
            <a:pPr>
              <a:buFont typeface="Arial" panose="020B0604020202020204" pitchFamily="34" charset="0"/>
              <a:buChar char="•"/>
            </a:pPr>
            <a:r>
              <a:rPr lang="en-US" b="1" dirty="0"/>
              <a:t>Retargeting &amp; personalization</a:t>
            </a:r>
            <a:r>
              <a:rPr lang="en-US" dirty="0"/>
              <a:t>: Re-engage non-converters with tailored follow-ups based on past interactions.</a:t>
            </a:r>
          </a:p>
          <a:p>
            <a:pPr>
              <a:buFont typeface="Arial" panose="020B0604020202020204" pitchFamily="34" charset="0"/>
              <a:buChar char="•"/>
            </a:pPr>
            <a:r>
              <a:rPr lang="en-US" b="1" dirty="0"/>
              <a:t>Content &amp; trend alignment</a:t>
            </a:r>
            <a:r>
              <a:rPr lang="en-US" dirty="0"/>
              <a:t>: Match ads with trending hashtags, user interests, and high-performing themes.</a:t>
            </a:r>
          </a:p>
          <a:p>
            <a:pPr>
              <a:buNone/>
            </a:pPr>
            <a:r>
              <a:rPr lang="en-US" b="1" dirty="0"/>
              <a:t>Summary</a:t>
            </a:r>
            <a:br>
              <a:rPr lang="en-US" dirty="0"/>
            </a:br>
            <a:r>
              <a:rPr lang="en-US" dirty="0"/>
              <a:t>📊 Data-driven segmentation + continuous experimentation + relevant content = scalable, high-impact, cost-efficient ad campaigns.</a:t>
            </a:r>
          </a:p>
          <a:p>
            <a:pPr marL="0" indent="0">
              <a:lnSpc>
                <a:spcPct val="110000"/>
              </a:lnSpc>
              <a:buNone/>
            </a:pPr>
            <a:endParaRPr lang="en-IN" sz="800" dirty="0"/>
          </a:p>
          <a:p>
            <a:pPr lvl="0">
              <a:lnSpc>
                <a:spcPct val="110000"/>
              </a:lnSpc>
            </a:pPr>
            <a:endParaRPr lang="en-IN" sz="800" dirty="0"/>
          </a:p>
          <a:p>
            <a:pPr>
              <a:lnSpc>
                <a:spcPct val="110000"/>
              </a:lnSpc>
            </a:pPr>
            <a:endParaRPr lang="en-IN" sz="800" dirty="0"/>
          </a:p>
        </p:txBody>
      </p:sp>
    </p:spTree>
    <p:extLst>
      <p:ext uri="{BB962C8B-B14F-4D97-AF65-F5344CB8AC3E}">
        <p14:creationId xmlns:p14="http://schemas.microsoft.com/office/powerpoint/2010/main" val="793246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DCC72D-E34B-D59F-4D01-DF1FA9D384F8}"/>
              </a:ext>
            </a:extLst>
          </p:cNvPr>
          <p:cNvSpPr>
            <a:spLocks noGrp="1"/>
          </p:cNvSpPr>
          <p:nvPr>
            <p:ph type="body" idx="1"/>
          </p:nvPr>
        </p:nvSpPr>
        <p:spPr/>
        <p:txBody>
          <a:bodyPr/>
          <a:lstStyle/>
          <a:p>
            <a:r>
              <a:rPr lang="en-US" dirty="0"/>
              <a:t>“Every moment spent on social media is an investment—and data tells us how well that investment performs.”</a:t>
            </a:r>
          </a:p>
        </p:txBody>
      </p:sp>
      <p:pic>
        <p:nvPicPr>
          <p:cNvPr id="4098" name="Picture 2">
            <a:extLst>
              <a:ext uri="{FF2B5EF4-FFF2-40B4-BE49-F238E27FC236}">
                <a16:creationId xmlns:a16="http://schemas.microsoft.com/office/drawing/2014/main" id="{A6F70796-D096-851C-FC0E-ED8E8EE20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573" y="2153899"/>
            <a:ext cx="451485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911376"/>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3960F"/>
      </a:accent1>
      <a:accent2>
        <a:srgbClr val="E04116"/>
      </a:accent2>
      <a:accent3>
        <a:srgbClr val="9D4DE7"/>
      </a:accent3>
      <a:accent4>
        <a:srgbClr val="449EF3"/>
      </a:accent4>
      <a:accent5>
        <a:srgbClr val="39C6BE"/>
      </a:accent5>
      <a:accent6>
        <a:srgbClr val="88C933"/>
      </a:accent6>
      <a:hlink>
        <a:srgbClr val="EBB41F"/>
      </a:hlink>
      <a:folHlink>
        <a:srgbClr val="E1D676"/>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29B3952A-A5A2-4E72-A5C9-A88B41734E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Atlas">
    <a:dk1>
      <a:sysClr val="windowText" lastClr="000000"/>
    </a:dk1>
    <a:lt1>
      <a:sysClr val="window" lastClr="FFFFFF"/>
    </a:lt1>
    <a:dk2>
      <a:srgbClr val="454545"/>
    </a:dk2>
    <a:lt2>
      <a:srgbClr val="E0E0E0"/>
    </a:lt2>
    <a:accent1>
      <a:srgbClr val="F3960F"/>
    </a:accent1>
    <a:accent2>
      <a:srgbClr val="E04116"/>
    </a:accent2>
    <a:accent3>
      <a:srgbClr val="9D4DE7"/>
    </a:accent3>
    <a:accent4>
      <a:srgbClr val="449EF3"/>
    </a:accent4>
    <a:accent5>
      <a:srgbClr val="39C6BE"/>
    </a:accent5>
    <a:accent6>
      <a:srgbClr val="88C933"/>
    </a:accent6>
    <a:hlink>
      <a:srgbClr val="EBB41F"/>
    </a:hlink>
    <a:folHlink>
      <a:srgbClr val="E1D676"/>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207</TotalTime>
  <Words>899</Words>
  <Application>Microsoft Office PowerPoint</Application>
  <PresentationFormat>Widescreen</PresentationFormat>
  <Paragraphs>95</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Narrow</vt:lpstr>
      <vt:lpstr>Arial</vt:lpstr>
      <vt:lpstr>Calibri Light</vt:lpstr>
      <vt:lpstr>Rockwell</vt:lpstr>
      <vt:lpstr>Wingdings</vt:lpstr>
      <vt:lpstr>Atlas</vt:lpstr>
      <vt:lpstr>ENHANCING INSTAGRAM ENGAGEMENT THROUGH DATA-DRIVEN MARKETING</vt:lpstr>
      <vt:lpstr>INTRODUCTION</vt:lpstr>
      <vt:lpstr>Problem statement</vt:lpstr>
      <vt:lpstr>DATA OVERVIEW</vt:lpstr>
      <vt:lpstr>DataBase Schema</vt:lpstr>
      <vt:lpstr>USERS WITH TOP ENGAGEMENT RATES IN LIKES AND COMMENTS</vt:lpstr>
      <vt:lpstr>OBSERVATION</vt:lpstr>
      <vt:lpstr>TAG WISE ENGAGEMENT RATE</vt:lpstr>
      <vt:lpstr>INSIGHTS REGARTING HASHTAG &amp; TOPIC ENGAGEMENT</vt:lpstr>
      <vt:lpstr>RECOMMENDATIONS</vt:lpstr>
      <vt:lpstr>CRUCIAL PLAY OF POSTING HOURS IN THE ENGAGEMENT OF THE RATE OF USERS</vt:lpstr>
      <vt:lpstr>INSIGHTS ON POSTING HOURS AND ENGAGEMENT RATE </vt:lpstr>
      <vt:lpstr>Recommendations for Content Strategy </vt:lpstr>
      <vt:lpstr>RANKING USERS BY TOTAL ENGAGEMENT</vt:lpstr>
      <vt:lpstr>OBSERVATIONS</vt:lpstr>
      <vt:lpstr>CATEGORIZING USERS BASED ON ENGAGEMENT LEVELS</vt:lpstr>
      <vt:lpstr>VARIETIES OF SEGMENTATIONS</vt:lpstr>
      <vt:lpstr>FINAL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Adiya</dc:creator>
  <cp:lastModifiedBy>Adiya</cp:lastModifiedBy>
  <cp:revision>42</cp:revision>
  <dcterms:created xsi:type="dcterms:W3CDTF">2025-06-22T10:45:03Z</dcterms:created>
  <dcterms:modified xsi:type="dcterms:W3CDTF">2026-01-22T15:56:52Z</dcterms:modified>
</cp:coreProperties>
</file>